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9" r:id="rId7"/>
    <p:sldId id="271" r:id="rId8"/>
    <p:sldId id="270" r:id="rId9"/>
    <p:sldId id="261" r:id="rId10"/>
    <p:sldId id="268" r:id="rId11"/>
    <p:sldId id="266" r:id="rId12"/>
    <p:sldId id="267" r:id="rId13"/>
    <p:sldId id="262" r:id="rId14"/>
    <p:sldId id="263" r:id="rId15"/>
    <p:sldId id="264" r:id="rId16"/>
    <p:sldId id="265" r:id="rId17"/>
  </p:sldIdLst>
  <p:sldSz cx="14630400" cy="8229600"/>
  <p:notesSz cx="8229600" cy="14630400"/>
  <p:embeddedFontLst>
    <p:embeddedFont>
      <p:font typeface="Cambria Math" panose="02040503050406030204" pitchFamily="18"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13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30836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sv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4.svg"/><Relationship Id="rId7" Type="http://schemas.openxmlformats.org/officeDocument/2006/relationships/image" Target="../media/image28.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6.svg"/><Relationship Id="rId4" Type="http://schemas.openxmlformats.org/officeDocument/2006/relationships/image" Target="../media/image25.sv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34.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38.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4.png"/><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44.svg"/><Relationship Id="rId5" Type="http://schemas.openxmlformats.org/officeDocument/2006/relationships/image" Target="../media/image43.svg"/><Relationship Id="rId4" Type="http://schemas.openxmlformats.org/officeDocument/2006/relationships/image" Target="../media/image42.sv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14269" y="1022950"/>
            <a:ext cx="4961811" cy="620078"/>
          </a:xfrm>
          <a:prstGeom prst="rect">
            <a:avLst/>
          </a:prstGeom>
          <a:noFill/>
          <a:ln/>
        </p:spPr>
        <p:txBody>
          <a:bodyPr wrap="none" lIns="0" tIns="0" rIns="0" bIns="0" rtlCol="0" anchor="t"/>
          <a:lstStyle/>
          <a:p>
            <a:pPr marL="0" indent="0" algn="l">
              <a:lnSpc>
                <a:spcPts val="4850"/>
              </a:lnSpc>
              <a:buNone/>
            </a:pPr>
            <a:r>
              <a:rPr lang="en-US" sz="4000" b="1" dirty="0">
                <a:solidFill>
                  <a:srgbClr val="000000"/>
                </a:solidFill>
                <a:latin typeface="Cambria Math" panose="02040503050406030204" pitchFamily="18" charset="0"/>
                <a:ea typeface="Cambria Math" panose="02040503050406030204" pitchFamily="18" charset="0"/>
                <a:cs typeface="Inter Bold" pitchFamily="34" charset="-120"/>
              </a:rPr>
              <a:t>DEEP LEARNING </a:t>
            </a:r>
          </a:p>
          <a:p>
            <a:pPr marL="0" indent="0" algn="l">
              <a:lnSpc>
                <a:spcPts val="4850"/>
              </a:lnSpc>
              <a:buNone/>
            </a:pPr>
            <a:endParaRPr lang="en-US" sz="4000" b="1" dirty="0">
              <a:solidFill>
                <a:srgbClr val="000000"/>
              </a:solidFill>
              <a:latin typeface="Cambria Math" panose="02040503050406030204" pitchFamily="18" charset="0"/>
              <a:ea typeface="Cambria Math" panose="02040503050406030204" pitchFamily="18" charset="0"/>
              <a:cs typeface="Inter Bold" pitchFamily="34" charset="-120"/>
            </a:endParaRPr>
          </a:p>
          <a:p>
            <a:pPr marL="0" indent="0" algn="l">
              <a:lnSpc>
                <a:spcPts val="4850"/>
              </a:lnSpc>
              <a:buNone/>
            </a:pPr>
            <a:r>
              <a:rPr lang="en-US" sz="4000" b="1" dirty="0">
                <a:solidFill>
                  <a:srgbClr val="000000"/>
                </a:solidFill>
                <a:latin typeface="Cambria Math" panose="02040503050406030204" pitchFamily="18" charset="0"/>
                <a:ea typeface="Cambria Math" panose="02040503050406030204" pitchFamily="18" charset="0"/>
                <a:cs typeface="Inter Bold" pitchFamily="34" charset="-120"/>
              </a:rPr>
              <a:t>Integrity Agent</a:t>
            </a:r>
            <a:endParaRPr lang="en-US" sz="4000" dirty="0">
              <a:latin typeface="Cambria Math" panose="02040503050406030204" pitchFamily="18" charset="0"/>
              <a:ea typeface="Cambria Math" panose="02040503050406030204" pitchFamily="18" charset="0"/>
            </a:endParaRPr>
          </a:p>
        </p:txBody>
      </p:sp>
      <p:sp>
        <p:nvSpPr>
          <p:cNvPr id="3" name="Text 1"/>
          <p:cNvSpPr/>
          <p:nvPr/>
        </p:nvSpPr>
        <p:spPr>
          <a:xfrm>
            <a:off x="793790" y="3366314"/>
            <a:ext cx="13042821" cy="635079"/>
          </a:xfrm>
          <a:prstGeom prst="rect">
            <a:avLst/>
          </a:prstGeom>
          <a:noFill/>
          <a:ln/>
        </p:spPr>
        <p:txBody>
          <a:bodyPr wrap="square" lIns="0" tIns="0" rIns="0" bIns="0" rtlCol="0" anchor="t"/>
          <a:lstStyle/>
          <a:p>
            <a:pPr marL="0" indent="0" algn="l">
              <a:lnSpc>
                <a:spcPts val="2500"/>
              </a:lnSpc>
              <a:buNone/>
            </a:pPr>
            <a:r>
              <a:rPr lang="en-US" sz="2400" b="1" dirty="0">
                <a:solidFill>
                  <a:srgbClr val="272525"/>
                </a:solidFill>
                <a:latin typeface="Cambria Math" panose="02040503050406030204" pitchFamily="18" charset="0"/>
                <a:ea typeface="Cambria Math" panose="02040503050406030204" pitchFamily="18" charset="0"/>
                <a:cs typeface="Inter" pitchFamily="34" charset="-120"/>
              </a:rPr>
              <a:t>A Multi-Modal AI System for Detecting Fake News, Dark Patterns, and Deepfake Images </a:t>
            </a:r>
          </a:p>
          <a:p>
            <a:pPr marL="0" indent="0" algn="l">
              <a:lnSpc>
                <a:spcPts val="2500"/>
              </a:lnSpc>
              <a:buNone/>
            </a:pPr>
            <a:r>
              <a:rPr lang="en-US" sz="1550" dirty="0">
                <a:solidFill>
                  <a:srgbClr val="272525"/>
                </a:solidFill>
                <a:latin typeface="Cambria Math" panose="02040503050406030204" pitchFamily="18" charset="0"/>
                <a:ea typeface="Cambria Math" panose="02040503050406030204" pitchFamily="18" charset="0"/>
                <a:cs typeface="Inter" pitchFamily="34" charset="-120"/>
              </a:rPr>
              <a:t>                                                      delivering a unified trust score across text, web content, and visual media.</a:t>
            </a:r>
            <a:endParaRPr lang="en-US" sz="1550" dirty="0">
              <a:latin typeface="Cambria Math" panose="02040503050406030204" pitchFamily="18" charset="0"/>
              <a:ea typeface="Cambria Math" panose="02040503050406030204" pitchFamily="18" charset="0"/>
            </a:endParaRPr>
          </a:p>
        </p:txBody>
      </p:sp>
      <p:sp>
        <p:nvSpPr>
          <p:cNvPr id="4" name="Shape 2"/>
          <p:cNvSpPr/>
          <p:nvPr/>
        </p:nvSpPr>
        <p:spPr>
          <a:xfrm>
            <a:off x="793790" y="4816196"/>
            <a:ext cx="1911310" cy="460653"/>
          </a:xfrm>
          <a:prstGeom prst="roundRect">
            <a:avLst>
              <a:gd name="adj" fmla="val 17872"/>
            </a:avLst>
          </a:prstGeom>
          <a:solidFill>
            <a:srgbClr val="DADBF1"/>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2852" y="4923353"/>
            <a:ext cx="158710" cy="158710"/>
          </a:xfrm>
          <a:prstGeom prst="rect">
            <a:avLst/>
          </a:prstGeom>
        </p:spPr>
      </p:pic>
      <p:sp>
        <p:nvSpPr>
          <p:cNvPr id="6" name="Text 3"/>
          <p:cNvSpPr/>
          <p:nvPr/>
        </p:nvSpPr>
        <p:spPr>
          <a:xfrm>
            <a:off x="1150858" y="4875728"/>
            <a:ext cx="1033343" cy="254079"/>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Cambria Math" panose="02040503050406030204" pitchFamily="18" charset="0"/>
                <a:ea typeface="Cambria Math" panose="02040503050406030204" pitchFamily="18" charset="0"/>
                <a:cs typeface="Inter" pitchFamily="34" charset="-120"/>
              </a:rPr>
              <a:t>AI INTEGRITY</a:t>
            </a:r>
            <a:endParaRPr lang="en-US" sz="1400" dirty="0">
              <a:latin typeface="Cambria Math" panose="02040503050406030204" pitchFamily="18" charset="0"/>
              <a:ea typeface="Cambria Math" panose="02040503050406030204" pitchFamily="18" charset="0"/>
            </a:endParaRPr>
          </a:p>
        </p:txBody>
      </p:sp>
      <p:sp>
        <p:nvSpPr>
          <p:cNvPr id="7" name="Shape 4"/>
          <p:cNvSpPr/>
          <p:nvPr/>
        </p:nvSpPr>
        <p:spPr>
          <a:xfrm>
            <a:off x="2966025" y="4818635"/>
            <a:ext cx="1911310" cy="458213"/>
          </a:xfrm>
          <a:prstGeom prst="roundRect">
            <a:avLst>
              <a:gd name="adj" fmla="val 17171"/>
            </a:avLst>
          </a:prstGeom>
          <a:noFill/>
          <a:ln w="7620">
            <a:solidFill>
              <a:srgbClr val="4950BC"/>
            </a:solidFill>
            <a:prstDash val="solid"/>
          </a:ln>
        </p:spPr>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32356" y="4957285"/>
            <a:ext cx="158710" cy="158710"/>
          </a:xfrm>
          <a:prstGeom prst="rect">
            <a:avLst/>
          </a:prstGeom>
        </p:spPr>
      </p:pic>
      <p:sp>
        <p:nvSpPr>
          <p:cNvPr id="9" name="Text 5"/>
          <p:cNvSpPr/>
          <p:nvPr/>
        </p:nvSpPr>
        <p:spPr>
          <a:xfrm>
            <a:off x="3457397" y="4899061"/>
            <a:ext cx="1127165" cy="403205"/>
          </a:xfrm>
          <a:prstGeom prst="rect">
            <a:avLst/>
          </a:prstGeom>
          <a:noFill/>
          <a:ln/>
        </p:spPr>
        <p:txBody>
          <a:bodyPr wrap="none" lIns="0" tIns="0" rIns="0" bIns="0" rtlCol="0" anchor="t"/>
          <a:lstStyle/>
          <a:p>
            <a:pPr marL="0" indent="0" algn="l">
              <a:lnSpc>
                <a:spcPts val="2000"/>
              </a:lnSpc>
              <a:buNone/>
            </a:pPr>
            <a:r>
              <a:rPr lang="en-US" sz="1400" dirty="0">
                <a:solidFill>
                  <a:srgbClr val="4950BC"/>
                </a:solidFill>
                <a:latin typeface="Cambria Math" panose="02040503050406030204" pitchFamily="18" charset="0"/>
                <a:ea typeface="Cambria Math" panose="02040503050406030204" pitchFamily="18" charset="0"/>
                <a:cs typeface="Inter" pitchFamily="34" charset="-120"/>
              </a:rPr>
              <a:t>MULTI-MODAL</a:t>
            </a:r>
            <a:endParaRPr lang="en-US" sz="1400" dirty="0">
              <a:latin typeface="Cambria Math" panose="02040503050406030204" pitchFamily="18" charset="0"/>
              <a:ea typeface="Cambria Math" panose="02040503050406030204" pitchFamily="18" charset="0"/>
            </a:endParaRPr>
          </a:p>
        </p:txBody>
      </p:sp>
      <p:pic>
        <p:nvPicPr>
          <p:cNvPr id="13" name="Picture 12">
            <a:extLst>
              <a:ext uri="{FF2B5EF4-FFF2-40B4-BE49-F238E27FC236}">
                <a16:creationId xmlns:a16="http://schemas.microsoft.com/office/drawing/2014/main" id="{EC6F69CC-1B20-A900-E240-919D46106042}"/>
              </a:ext>
            </a:extLst>
          </p:cNvPr>
          <p:cNvPicPr>
            <a:picLocks noChangeAspect="1"/>
          </p:cNvPicPr>
          <p:nvPr/>
        </p:nvPicPr>
        <p:blipFill>
          <a:blip r:embed="rId5"/>
          <a:stretch>
            <a:fillRect/>
          </a:stretch>
        </p:blipFill>
        <p:spPr>
          <a:xfrm>
            <a:off x="12222378" y="7717138"/>
            <a:ext cx="2339543" cy="396274"/>
          </a:xfrm>
          <a:prstGeom prst="rect">
            <a:avLst/>
          </a:prstGeom>
        </p:spPr>
      </p:pic>
      <p:pic>
        <p:nvPicPr>
          <p:cNvPr id="17" name="Picture 16">
            <a:extLst>
              <a:ext uri="{FF2B5EF4-FFF2-40B4-BE49-F238E27FC236}">
                <a16:creationId xmlns:a16="http://schemas.microsoft.com/office/drawing/2014/main" id="{5AD67742-8B3E-7085-0B85-EEA799E5585E}"/>
              </a:ext>
            </a:extLst>
          </p:cNvPr>
          <p:cNvPicPr>
            <a:picLocks noChangeAspect="1"/>
          </p:cNvPicPr>
          <p:nvPr/>
        </p:nvPicPr>
        <p:blipFill>
          <a:blip r:embed="rId6"/>
          <a:stretch>
            <a:fillRect/>
          </a:stretch>
        </p:blipFill>
        <p:spPr>
          <a:xfrm>
            <a:off x="7701097" y="4875728"/>
            <a:ext cx="3662406" cy="162871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150025"/>
            <a:ext cx="3949660" cy="310158"/>
          </a:xfrm>
          <a:prstGeom prst="rect">
            <a:avLst/>
          </a:prstGeom>
          <a:noFill/>
          <a:ln/>
        </p:spPr>
        <p:txBody>
          <a:bodyPr wrap="none" lIns="0" tIns="0" rIns="0" bIns="0" rtlCol="0" anchor="t"/>
          <a:lstStyle/>
          <a:p>
            <a:pPr marL="0" indent="0" algn="l">
              <a:lnSpc>
                <a:spcPts val="2400"/>
              </a:lnSpc>
              <a:buNone/>
            </a:pPr>
            <a:r>
              <a:rPr lang="en-US" sz="2500" b="1" dirty="0">
                <a:solidFill>
                  <a:srgbClr val="000000"/>
                </a:solidFill>
                <a:latin typeface="Cambria Math" panose="02040503050406030204" pitchFamily="18" charset="0"/>
                <a:ea typeface="Cambria Math" panose="02040503050406030204" pitchFamily="18" charset="0"/>
                <a:cs typeface="Inter Bold" pitchFamily="34" charset="-120"/>
              </a:rPr>
              <a:t>The Challenge : Problem statement </a:t>
            </a:r>
            <a:endParaRPr lang="en-US" sz="2500" dirty="0">
              <a:latin typeface="Cambria Math" panose="02040503050406030204" pitchFamily="18" charset="0"/>
              <a:ea typeface="Cambria Math" panose="02040503050406030204" pitchFamily="18" charset="0"/>
            </a:endParaRPr>
          </a:p>
        </p:txBody>
      </p:sp>
      <p:sp>
        <p:nvSpPr>
          <p:cNvPr id="3" name="Text 1"/>
          <p:cNvSpPr/>
          <p:nvPr/>
        </p:nvSpPr>
        <p:spPr>
          <a:xfrm>
            <a:off x="793790" y="1539478"/>
            <a:ext cx="6921460" cy="620078"/>
          </a:xfrm>
          <a:prstGeom prst="rect">
            <a:avLst/>
          </a:prstGeom>
          <a:noFill/>
          <a:ln/>
        </p:spPr>
        <p:txBody>
          <a:bodyPr wrap="none" lIns="0" tIns="0" rIns="0" bIns="0" rtlCol="0" anchor="t"/>
          <a:lstStyle/>
          <a:p>
            <a:pPr marL="0" indent="0" algn="l">
              <a:lnSpc>
                <a:spcPts val="4850"/>
              </a:lnSpc>
              <a:buNone/>
            </a:pPr>
            <a:r>
              <a:rPr lang="en-US" sz="3600" b="1" dirty="0">
                <a:solidFill>
                  <a:srgbClr val="000000"/>
                </a:solidFill>
                <a:latin typeface="Cambria Math" panose="02040503050406030204" pitchFamily="18" charset="0"/>
                <a:ea typeface="Cambria Math" panose="02040503050406030204" pitchFamily="18" charset="0"/>
                <a:cs typeface="Inter Bold" pitchFamily="34" charset="-120"/>
              </a:rPr>
              <a:t>A Digital World Under Threat</a:t>
            </a:r>
            <a:endParaRPr lang="en-US" sz="3600" dirty="0">
              <a:latin typeface="Cambria Math" panose="02040503050406030204" pitchFamily="18" charset="0"/>
              <a:ea typeface="Cambria Math" panose="02040503050406030204" pitchFamily="18" charset="0"/>
            </a:endParaRPr>
          </a:p>
        </p:txBody>
      </p:sp>
      <p:sp>
        <p:nvSpPr>
          <p:cNvPr id="4" name="Text 2"/>
          <p:cNvSpPr/>
          <p:nvPr/>
        </p:nvSpPr>
        <p:spPr>
          <a:xfrm>
            <a:off x="793790" y="2331721"/>
            <a:ext cx="13042821" cy="635079"/>
          </a:xfrm>
          <a:prstGeom prst="rect">
            <a:avLst/>
          </a:prstGeom>
          <a:noFill/>
          <a:ln/>
        </p:spPr>
        <p:txBody>
          <a:bodyPr wrap="square" lIns="0" tIns="0" rIns="0" bIns="0" rtlCol="0" anchor="t"/>
          <a:lstStyle/>
          <a:p>
            <a:pPr marL="0" indent="0" algn="l">
              <a:lnSpc>
                <a:spcPts val="2500"/>
              </a:lnSpc>
              <a:buNone/>
            </a:pPr>
            <a:r>
              <a:rPr lang="en-US" sz="1600" dirty="0">
                <a:solidFill>
                  <a:srgbClr val="272525"/>
                </a:solidFill>
                <a:latin typeface="Cambria Math" panose="02040503050406030204" pitchFamily="18" charset="0"/>
                <a:ea typeface="Cambria Math" panose="02040503050406030204" pitchFamily="18" charset="0"/>
                <a:cs typeface="Inter" pitchFamily="34" charset="-120"/>
              </a:rPr>
              <a:t>Misinformation, deceptive design, and synthetic media are eroding trust at an unprecedented scale. A unified, automated solution is no longer optional  it's essential.</a:t>
            </a:r>
            <a:endParaRPr lang="en-US" sz="1600" dirty="0">
              <a:latin typeface="Cambria Math" panose="02040503050406030204" pitchFamily="18" charset="0"/>
              <a:ea typeface="Cambria Math" panose="02040503050406030204" pitchFamily="18" charset="0"/>
            </a:endParaRPr>
          </a:p>
        </p:txBody>
      </p:sp>
      <p:pic>
        <p:nvPicPr>
          <p:cNvPr id="5" name="Image 0" descr="preencoded.png"/>
          <p:cNvPicPr>
            <a:picLocks noChangeAspect="1"/>
          </p:cNvPicPr>
          <p:nvPr/>
        </p:nvPicPr>
        <p:blipFill>
          <a:blip r:embed="rId3"/>
          <a:stretch>
            <a:fillRect/>
          </a:stretch>
        </p:blipFill>
        <p:spPr>
          <a:xfrm>
            <a:off x="793790" y="3315533"/>
            <a:ext cx="2425660" cy="1499116"/>
          </a:xfrm>
          <a:prstGeom prst="rect">
            <a:avLst/>
          </a:prstGeom>
        </p:spPr>
      </p:pic>
      <p:sp>
        <p:nvSpPr>
          <p:cNvPr id="6" name="Text 3"/>
          <p:cNvSpPr/>
          <p:nvPr/>
        </p:nvSpPr>
        <p:spPr>
          <a:xfrm>
            <a:off x="793790" y="5062657"/>
            <a:ext cx="2861429"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Cambria Math" panose="02040503050406030204" pitchFamily="18" charset="0"/>
                <a:ea typeface="Cambria Math" panose="02040503050406030204" pitchFamily="18" charset="0"/>
                <a:cs typeface="Inter Bold" pitchFamily="34" charset="-120"/>
              </a:rPr>
              <a:t>Fake News Proliferation</a:t>
            </a:r>
            <a:endParaRPr lang="en-US" sz="1950" dirty="0">
              <a:latin typeface="Cambria Math" panose="02040503050406030204" pitchFamily="18" charset="0"/>
              <a:ea typeface="Cambria Math" panose="02040503050406030204" pitchFamily="18" charset="0"/>
            </a:endParaRPr>
          </a:p>
        </p:txBody>
      </p:sp>
      <p:sp>
        <p:nvSpPr>
          <p:cNvPr id="7" name="Text 4"/>
          <p:cNvSpPr/>
          <p:nvPr/>
        </p:nvSpPr>
        <p:spPr>
          <a:xfrm>
            <a:off x="793790" y="5491877"/>
            <a:ext cx="4182189"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Cambria Math" panose="02040503050406030204" pitchFamily="18" charset="0"/>
                <a:ea typeface="Cambria Math" panose="02040503050406030204" pitchFamily="18" charset="0"/>
                <a:cs typeface="Inter" pitchFamily="34" charset="-120"/>
              </a:rPr>
              <a:t>Misinformation spreads up to six times faster than factual content on social platforms, influencing public opinion, elections, and public health decisions at scale.</a:t>
            </a:r>
            <a:endParaRPr lang="en-US" sz="1550" dirty="0">
              <a:latin typeface="Cambria Math" panose="02040503050406030204" pitchFamily="18" charset="0"/>
              <a:ea typeface="Cambria Math" panose="02040503050406030204" pitchFamily="18" charset="0"/>
            </a:endParaRPr>
          </a:p>
        </p:txBody>
      </p:sp>
      <p:pic>
        <p:nvPicPr>
          <p:cNvPr id="8" name="Image 1" descr="preencoded.png"/>
          <p:cNvPicPr>
            <a:picLocks noChangeAspect="1"/>
          </p:cNvPicPr>
          <p:nvPr/>
        </p:nvPicPr>
        <p:blipFill>
          <a:blip r:embed="rId4"/>
          <a:stretch>
            <a:fillRect/>
          </a:stretch>
        </p:blipFill>
        <p:spPr>
          <a:xfrm>
            <a:off x="5223986" y="3315533"/>
            <a:ext cx="2425660" cy="1499116"/>
          </a:xfrm>
          <a:prstGeom prst="rect">
            <a:avLst/>
          </a:prstGeom>
        </p:spPr>
      </p:pic>
      <p:sp>
        <p:nvSpPr>
          <p:cNvPr id="9" name="Text 5"/>
          <p:cNvSpPr/>
          <p:nvPr/>
        </p:nvSpPr>
        <p:spPr>
          <a:xfrm>
            <a:off x="5223986" y="5062657"/>
            <a:ext cx="3155513"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Cambria Math" panose="02040503050406030204" pitchFamily="18" charset="0"/>
                <a:ea typeface="Cambria Math" panose="02040503050406030204" pitchFamily="18" charset="0"/>
                <a:cs typeface="Inter Bold" pitchFamily="34" charset="-120"/>
              </a:rPr>
              <a:t>Dark Pattern Manipulation</a:t>
            </a:r>
            <a:endParaRPr lang="en-US" sz="1950" dirty="0">
              <a:latin typeface="Cambria Math" panose="02040503050406030204" pitchFamily="18" charset="0"/>
              <a:ea typeface="Cambria Math" panose="02040503050406030204" pitchFamily="18" charset="0"/>
            </a:endParaRPr>
          </a:p>
        </p:txBody>
      </p:sp>
      <p:sp>
        <p:nvSpPr>
          <p:cNvPr id="10" name="Text 6"/>
          <p:cNvSpPr/>
          <p:nvPr/>
        </p:nvSpPr>
        <p:spPr>
          <a:xfrm>
            <a:off x="5223986" y="5491877"/>
            <a:ext cx="4182308"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Cambria Math" panose="02040503050406030204" pitchFamily="18" charset="0"/>
                <a:ea typeface="Cambria Math" panose="02040503050406030204" pitchFamily="18" charset="0"/>
                <a:cs typeface="Inter" pitchFamily="34" charset="-120"/>
              </a:rPr>
              <a:t>Websites embed deceptive UX patterns  hidden charges, forced continuity, misdirection  designed to coerce users into unintended actions without their informed consent.</a:t>
            </a:r>
            <a:endParaRPr lang="en-US" sz="1550" dirty="0">
              <a:latin typeface="Cambria Math" panose="02040503050406030204" pitchFamily="18" charset="0"/>
              <a:ea typeface="Cambria Math" panose="02040503050406030204" pitchFamily="18" charset="0"/>
            </a:endParaRPr>
          </a:p>
        </p:txBody>
      </p:sp>
      <p:pic>
        <p:nvPicPr>
          <p:cNvPr id="11" name="Image 2" descr="preencoded.png"/>
          <p:cNvPicPr>
            <a:picLocks noChangeAspect="1"/>
          </p:cNvPicPr>
          <p:nvPr/>
        </p:nvPicPr>
        <p:blipFill>
          <a:blip r:embed="rId5"/>
          <a:stretch>
            <a:fillRect/>
          </a:stretch>
        </p:blipFill>
        <p:spPr>
          <a:xfrm>
            <a:off x="9654302" y="3315533"/>
            <a:ext cx="2425660" cy="1499116"/>
          </a:xfrm>
          <a:prstGeom prst="rect">
            <a:avLst/>
          </a:prstGeom>
        </p:spPr>
      </p:pic>
      <p:sp>
        <p:nvSpPr>
          <p:cNvPr id="12" name="Text 7"/>
          <p:cNvSpPr/>
          <p:nvPr/>
        </p:nvSpPr>
        <p:spPr>
          <a:xfrm>
            <a:off x="9654302" y="5062657"/>
            <a:ext cx="2709743"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Cambria Math" panose="02040503050406030204" pitchFamily="18" charset="0"/>
                <a:ea typeface="Cambria Math" panose="02040503050406030204" pitchFamily="18" charset="0"/>
                <a:cs typeface="Inter Bold" pitchFamily="34" charset="-120"/>
              </a:rPr>
              <a:t>Deepfake Image Fraud</a:t>
            </a:r>
            <a:endParaRPr lang="en-US" sz="1950" dirty="0">
              <a:latin typeface="Cambria Math" panose="02040503050406030204" pitchFamily="18" charset="0"/>
              <a:ea typeface="Cambria Math" panose="02040503050406030204" pitchFamily="18" charset="0"/>
            </a:endParaRPr>
          </a:p>
        </p:txBody>
      </p:sp>
      <p:sp>
        <p:nvSpPr>
          <p:cNvPr id="13" name="Text 8"/>
          <p:cNvSpPr/>
          <p:nvPr/>
        </p:nvSpPr>
        <p:spPr>
          <a:xfrm>
            <a:off x="9654302" y="5491877"/>
            <a:ext cx="4182308"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Cambria Math" panose="02040503050406030204" pitchFamily="18" charset="0"/>
                <a:ea typeface="Cambria Math" panose="02040503050406030204" pitchFamily="18" charset="0"/>
                <a:cs typeface="Inter" pitchFamily="34" charset="-120"/>
              </a:rPr>
              <a:t>AI-generated and tampered images are weaponized for identity fraud, political manipulation, and disinformation campaigns, making visual verification critically difficult.</a:t>
            </a:r>
            <a:endParaRPr lang="en-US" sz="1550" dirty="0">
              <a:latin typeface="Cambria Math" panose="02040503050406030204" pitchFamily="18" charset="0"/>
              <a:ea typeface="Cambria Math" panose="02040503050406030204" pitchFamily="18" charset="0"/>
            </a:endParaRPr>
          </a:p>
        </p:txBody>
      </p:sp>
      <p:pic>
        <p:nvPicPr>
          <p:cNvPr id="15" name="Picture 14">
            <a:extLst>
              <a:ext uri="{FF2B5EF4-FFF2-40B4-BE49-F238E27FC236}">
                <a16:creationId xmlns:a16="http://schemas.microsoft.com/office/drawing/2014/main" id="{13A02A10-0F71-B736-9A75-287D05584595}"/>
              </a:ext>
            </a:extLst>
          </p:cNvPr>
          <p:cNvPicPr>
            <a:picLocks noChangeAspect="1"/>
          </p:cNvPicPr>
          <p:nvPr/>
        </p:nvPicPr>
        <p:blipFill>
          <a:blip r:embed="rId6"/>
          <a:stretch>
            <a:fillRect/>
          </a:stretch>
        </p:blipFill>
        <p:spPr>
          <a:xfrm>
            <a:off x="12174753" y="7762876"/>
            <a:ext cx="2339543" cy="39627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69940" y="1622346"/>
            <a:ext cx="2082760" cy="688419"/>
          </a:xfrm>
          <a:prstGeom prst="roundRect">
            <a:avLst>
              <a:gd name="adj" fmla="val 17171"/>
            </a:avLst>
          </a:prstGeom>
          <a:noFill/>
          <a:ln w="7620">
            <a:solidFill>
              <a:srgbClr val="4950BC"/>
            </a:solidFill>
            <a:prstDash val="solid"/>
          </a:ln>
        </p:spPr>
      </p:sp>
      <p:sp>
        <p:nvSpPr>
          <p:cNvPr id="3" name="Text 1"/>
          <p:cNvSpPr/>
          <p:nvPr/>
        </p:nvSpPr>
        <p:spPr>
          <a:xfrm>
            <a:off x="793790" y="1910239"/>
            <a:ext cx="817126" cy="254079"/>
          </a:xfrm>
          <a:prstGeom prst="rect">
            <a:avLst/>
          </a:prstGeom>
          <a:noFill/>
          <a:ln/>
        </p:spPr>
        <p:txBody>
          <a:bodyPr wrap="none" lIns="0" tIns="0" rIns="0" bIns="0" rtlCol="0" anchor="t"/>
          <a:lstStyle/>
          <a:p>
            <a:pPr marL="0" indent="0" algn="l">
              <a:lnSpc>
                <a:spcPts val="2000"/>
              </a:lnSpc>
              <a:buNone/>
            </a:pPr>
            <a:r>
              <a:rPr lang="en-US" sz="2300" dirty="0">
                <a:solidFill>
                  <a:schemeClr val="accent1">
                    <a:lumMod val="75000"/>
                  </a:schemeClr>
                </a:solidFill>
                <a:latin typeface="Cambria Math" panose="02040503050406030204" pitchFamily="18" charset="0"/>
                <a:ea typeface="Cambria Math" panose="02040503050406030204" pitchFamily="18" charset="0"/>
                <a:cs typeface="Inter" pitchFamily="34" charset="-120"/>
              </a:rPr>
              <a:t>SOLUTION</a:t>
            </a:r>
            <a:endParaRPr lang="en-US" sz="2300" dirty="0">
              <a:solidFill>
                <a:schemeClr val="accent1">
                  <a:lumMod val="75000"/>
                </a:schemeClr>
              </a:solidFill>
              <a:latin typeface="Cambria Math" panose="02040503050406030204" pitchFamily="18" charset="0"/>
              <a:ea typeface="Cambria Math" panose="02040503050406030204" pitchFamily="18" charset="0"/>
            </a:endParaRPr>
          </a:p>
        </p:txBody>
      </p:sp>
      <p:sp>
        <p:nvSpPr>
          <p:cNvPr id="4" name="Text 2"/>
          <p:cNvSpPr/>
          <p:nvPr/>
        </p:nvSpPr>
        <p:spPr>
          <a:xfrm>
            <a:off x="793790" y="2310765"/>
            <a:ext cx="6552009" cy="620078"/>
          </a:xfrm>
          <a:prstGeom prst="rect">
            <a:avLst/>
          </a:prstGeom>
          <a:noFill/>
          <a:ln/>
        </p:spPr>
        <p:txBody>
          <a:bodyPr wrap="none" lIns="0" tIns="0" rIns="0" bIns="0" rtlCol="0" anchor="t"/>
          <a:lstStyle/>
          <a:p>
            <a:pPr marL="0" indent="0" algn="l">
              <a:lnSpc>
                <a:spcPts val="4850"/>
              </a:lnSpc>
              <a:buNone/>
            </a:pPr>
            <a:r>
              <a:rPr lang="en-US" b="1" dirty="0">
                <a:solidFill>
                  <a:srgbClr val="000000"/>
                </a:solidFill>
                <a:latin typeface="Cambria Math" panose="02040503050406030204" pitchFamily="18" charset="0"/>
                <a:ea typeface="Cambria Math" panose="02040503050406030204" pitchFamily="18" charset="0"/>
                <a:cs typeface="Inter Bold" pitchFamily="34" charset="-120"/>
              </a:rPr>
              <a:t>Introducing Integrity Agent</a:t>
            </a:r>
            <a:endParaRPr lang="en-US" dirty="0">
              <a:latin typeface="Cambria Math" panose="02040503050406030204" pitchFamily="18" charset="0"/>
              <a:ea typeface="Cambria Math" panose="02040503050406030204" pitchFamily="18" charset="0"/>
            </a:endParaRPr>
          </a:p>
        </p:txBody>
      </p:sp>
      <p:sp>
        <p:nvSpPr>
          <p:cNvPr id="5" name="Text 3"/>
          <p:cNvSpPr/>
          <p:nvPr/>
        </p:nvSpPr>
        <p:spPr>
          <a:xfrm>
            <a:off x="765334" y="3397136"/>
            <a:ext cx="6549866" cy="952619"/>
          </a:xfrm>
          <a:prstGeom prst="rect">
            <a:avLst/>
          </a:prstGeom>
          <a:noFill/>
          <a:ln/>
        </p:spPr>
        <p:txBody>
          <a:bodyPr wrap="square" lIns="0" tIns="0" rIns="0" bIns="0" rtlCol="0" anchor="t"/>
          <a:lstStyle/>
          <a:p>
            <a:pPr marL="0" indent="0" algn="l">
              <a:lnSpc>
                <a:spcPts val="2500"/>
              </a:lnSpc>
              <a:buNone/>
            </a:pPr>
            <a:r>
              <a:rPr lang="en-US" dirty="0">
                <a:solidFill>
                  <a:srgbClr val="272525"/>
                </a:solidFill>
                <a:latin typeface="Cambria Math" panose="02040503050406030204" pitchFamily="18" charset="0"/>
                <a:ea typeface="Cambria Math" panose="02040503050406030204" pitchFamily="18" charset="0"/>
                <a:cs typeface="Inter" pitchFamily="34" charset="-120"/>
              </a:rPr>
              <a:t>Integrity Agent is a unified, multi-modal AI platform that independently analyzes text, website content, and images  then synthesizes findings into a single, interpretable </a:t>
            </a:r>
            <a:r>
              <a:rPr lang="en-US" b="1" dirty="0">
                <a:solidFill>
                  <a:srgbClr val="272525"/>
                </a:solidFill>
                <a:latin typeface="Cambria Math" panose="02040503050406030204" pitchFamily="18" charset="0"/>
                <a:ea typeface="Cambria Math" panose="02040503050406030204" pitchFamily="18" charset="0"/>
                <a:cs typeface="Inter" pitchFamily="34" charset="-120"/>
              </a:rPr>
              <a:t>Integrity Score</a:t>
            </a:r>
            <a:r>
              <a:rPr lang="en-US" dirty="0">
                <a:solidFill>
                  <a:srgbClr val="272525"/>
                </a:solidFill>
                <a:latin typeface="Cambria Math" panose="02040503050406030204" pitchFamily="18" charset="0"/>
                <a:ea typeface="Cambria Math" panose="02040503050406030204" pitchFamily="18" charset="0"/>
                <a:cs typeface="Inter" pitchFamily="34" charset="-120"/>
              </a:rPr>
              <a:t>.</a:t>
            </a:r>
            <a:endParaRPr lang="en-US" dirty="0">
              <a:latin typeface="Cambria Math" panose="02040503050406030204" pitchFamily="18" charset="0"/>
              <a:ea typeface="Cambria Math" panose="02040503050406030204" pitchFamily="18" charset="0"/>
            </a:endParaRPr>
          </a:p>
        </p:txBody>
      </p:sp>
      <p:sp>
        <p:nvSpPr>
          <p:cNvPr id="6" name="Shape 4"/>
          <p:cNvSpPr/>
          <p:nvPr/>
        </p:nvSpPr>
        <p:spPr>
          <a:xfrm>
            <a:off x="793790" y="4682102"/>
            <a:ext cx="6549866" cy="32385"/>
          </a:xfrm>
          <a:prstGeom prst="rect">
            <a:avLst/>
          </a:prstGeom>
          <a:solidFill>
            <a:srgbClr val="272525">
              <a:alpha val="50000"/>
            </a:srgbClr>
          </a:solidFill>
          <a:ln/>
        </p:spPr>
      </p:sp>
      <p:sp>
        <p:nvSpPr>
          <p:cNvPr id="7" name="Text 5"/>
          <p:cNvSpPr/>
          <p:nvPr/>
        </p:nvSpPr>
        <p:spPr>
          <a:xfrm>
            <a:off x="793790" y="4937641"/>
            <a:ext cx="6549866" cy="1270159"/>
          </a:xfrm>
          <a:prstGeom prst="rect">
            <a:avLst/>
          </a:prstGeom>
          <a:noFill/>
          <a:ln/>
        </p:spPr>
        <p:txBody>
          <a:bodyPr wrap="square" lIns="0" tIns="0" rIns="0" bIns="0" rtlCol="0" anchor="t"/>
          <a:lstStyle/>
          <a:p>
            <a:pPr marL="0" indent="0" algn="l">
              <a:lnSpc>
                <a:spcPts val="2500"/>
              </a:lnSpc>
              <a:buNone/>
            </a:pPr>
            <a:r>
              <a:rPr lang="en-US" dirty="0">
                <a:solidFill>
                  <a:srgbClr val="272525"/>
                </a:solidFill>
                <a:latin typeface="Cambria Math" panose="02040503050406030204" pitchFamily="18" charset="0"/>
                <a:ea typeface="Cambria Math" panose="02040503050406030204" pitchFamily="18" charset="0"/>
                <a:cs typeface="Inter" pitchFamily="34" charset="-120"/>
              </a:rPr>
              <a:t>By combining NLP, deep learning, and computer vision into one cohesive system, Integrity Agent empowers users, platforms, and organizations to automatically flag manipulated or misleading digital content before it causes harm.</a:t>
            </a:r>
            <a:endParaRPr lang="en-US" dirty="0">
              <a:latin typeface="Cambria Math" panose="02040503050406030204" pitchFamily="18" charset="0"/>
              <a:ea typeface="Cambria Math" panose="02040503050406030204" pitchFamily="18" charset="0"/>
            </a:endParaRPr>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35384" y="3249454"/>
            <a:ext cx="425410" cy="425410"/>
          </a:xfrm>
          <a:prstGeom prst="rect">
            <a:avLst/>
          </a:prstGeom>
        </p:spPr>
      </p:pic>
      <p:sp>
        <p:nvSpPr>
          <p:cNvPr id="9" name="Shape 6"/>
          <p:cNvSpPr/>
          <p:nvPr/>
        </p:nvSpPr>
        <p:spPr>
          <a:xfrm>
            <a:off x="7835384" y="3766066"/>
            <a:ext cx="2905125" cy="22860"/>
          </a:xfrm>
          <a:prstGeom prst="rect">
            <a:avLst/>
          </a:prstGeom>
          <a:solidFill>
            <a:srgbClr val="4950BC"/>
          </a:solidFill>
          <a:ln/>
        </p:spPr>
      </p:sp>
      <p:sp>
        <p:nvSpPr>
          <p:cNvPr id="10" name="Text 7"/>
          <p:cNvSpPr/>
          <p:nvPr/>
        </p:nvSpPr>
        <p:spPr>
          <a:xfrm>
            <a:off x="7835384" y="3910965"/>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272525"/>
                </a:solidFill>
                <a:latin typeface="Cambria Math" panose="02040503050406030204" pitchFamily="18" charset="0"/>
                <a:ea typeface="Cambria Math" panose="02040503050406030204" pitchFamily="18" charset="0"/>
                <a:cs typeface="Inter Bold" pitchFamily="34" charset="-120"/>
              </a:rPr>
              <a:t>User Inputs</a:t>
            </a:r>
            <a:endParaRPr lang="en-US" dirty="0">
              <a:latin typeface="Cambria Math" panose="02040503050406030204" pitchFamily="18" charset="0"/>
              <a:ea typeface="Cambria Math" panose="02040503050406030204" pitchFamily="18" charset="0"/>
            </a:endParaRPr>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938867" y="3249454"/>
            <a:ext cx="425410" cy="425410"/>
          </a:xfrm>
          <a:prstGeom prst="rect">
            <a:avLst/>
          </a:prstGeom>
        </p:spPr>
      </p:pic>
      <p:sp>
        <p:nvSpPr>
          <p:cNvPr id="12" name="Shape 8"/>
          <p:cNvSpPr/>
          <p:nvPr/>
        </p:nvSpPr>
        <p:spPr>
          <a:xfrm>
            <a:off x="10938867" y="3766066"/>
            <a:ext cx="2905244" cy="22860"/>
          </a:xfrm>
          <a:prstGeom prst="rect">
            <a:avLst/>
          </a:prstGeom>
          <a:solidFill>
            <a:srgbClr val="4950BC"/>
          </a:solidFill>
          <a:ln/>
        </p:spPr>
      </p:sp>
      <p:sp>
        <p:nvSpPr>
          <p:cNvPr id="13" name="Text 9"/>
          <p:cNvSpPr/>
          <p:nvPr/>
        </p:nvSpPr>
        <p:spPr>
          <a:xfrm>
            <a:off x="10938867" y="3910965"/>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272525"/>
                </a:solidFill>
                <a:latin typeface="Cambria Math" panose="02040503050406030204" pitchFamily="18" charset="0"/>
                <a:ea typeface="Cambria Math" panose="02040503050406030204" pitchFamily="18" charset="0"/>
                <a:cs typeface="Inter Bold" pitchFamily="34" charset="-120"/>
              </a:rPr>
              <a:t>Preprocessing</a:t>
            </a:r>
            <a:endParaRPr lang="en-US" dirty="0">
              <a:latin typeface="Cambria Math" panose="02040503050406030204" pitchFamily="18" charset="0"/>
              <a:ea typeface="Cambria Math" panose="02040503050406030204" pitchFamily="18" charset="0"/>
            </a:endParaRPr>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35383" y="4388883"/>
            <a:ext cx="402549" cy="402549"/>
          </a:xfrm>
          <a:prstGeom prst="rect">
            <a:avLst/>
          </a:prstGeom>
        </p:spPr>
      </p:pic>
      <p:sp>
        <p:nvSpPr>
          <p:cNvPr id="15" name="Shape 10"/>
          <p:cNvSpPr/>
          <p:nvPr/>
        </p:nvSpPr>
        <p:spPr>
          <a:xfrm>
            <a:off x="7835384" y="4882634"/>
            <a:ext cx="2905125" cy="22860"/>
          </a:xfrm>
          <a:prstGeom prst="rect">
            <a:avLst/>
          </a:prstGeom>
          <a:solidFill>
            <a:srgbClr val="4950BC"/>
          </a:solidFill>
          <a:ln/>
        </p:spPr>
      </p:sp>
      <p:sp>
        <p:nvSpPr>
          <p:cNvPr id="16" name="Text 11"/>
          <p:cNvSpPr/>
          <p:nvPr/>
        </p:nvSpPr>
        <p:spPr>
          <a:xfrm>
            <a:off x="7835384" y="5027533"/>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272525"/>
                </a:solidFill>
                <a:latin typeface="Cambria Math" panose="02040503050406030204" pitchFamily="18" charset="0"/>
                <a:ea typeface="Cambria Math" panose="02040503050406030204" pitchFamily="18" charset="0"/>
                <a:cs typeface="Inter Bold" pitchFamily="34" charset="-120"/>
              </a:rPr>
              <a:t>Multi-Modal AI</a:t>
            </a:r>
            <a:endParaRPr lang="en-US" dirty="0">
              <a:latin typeface="Cambria Math" panose="02040503050406030204" pitchFamily="18" charset="0"/>
              <a:ea typeface="Cambria Math" panose="02040503050406030204" pitchFamily="18" charset="0"/>
            </a:endParaRPr>
          </a:p>
        </p:txBody>
      </p:sp>
      <p:pic>
        <p:nvPicPr>
          <p:cNvPr id="1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938867" y="4388882"/>
            <a:ext cx="402550" cy="402550"/>
          </a:xfrm>
          <a:prstGeom prst="rect">
            <a:avLst/>
          </a:prstGeom>
        </p:spPr>
      </p:pic>
      <p:sp>
        <p:nvSpPr>
          <p:cNvPr id="18" name="Shape 12"/>
          <p:cNvSpPr/>
          <p:nvPr/>
        </p:nvSpPr>
        <p:spPr>
          <a:xfrm>
            <a:off x="10938867" y="4882634"/>
            <a:ext cx="2905244" cy="22860"/>
          </a:xfrm>
          <a:prstGeom prst="rect">
            <a:avLst/>
          </a:prstGeom>
          <a:solidFill>
            <a:srgbClr val="4950BC"/>
          </a:solidFill>
          <a:ln/>
        </p:spPr>
      </p:sp>
      <p:sp>
        <p:nvSpPr>
          <p:cNvPr id="19" name="Text 13"/>
          <p:cNvSpPr/>
          <p:nvPr/>
        </p:nvSpPr>
        <p:spPr>
          <a:xfrm>
            <a:off x="10938867" y="5027533"/>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272525"/>
                </a:solidFill>
                <a:latin typeface="Cambria Math" panose="02040503050406030204" pitchFamily="18" charset="0"/>
                <a:ea typeface="Cambria Math" panose="02040503050406030204" pitchFamily="18" charset="0"/>
                <a:cs typeface="Inter Bold" pitchFamily="34" charset="-120"/>
              </a:rPr>
              <a:t>Integrity Score</a:t>
            </a:r>
            <a:endParaRPr lang="en-US" dirty="0">
              <a:latin typeface="Cambria Math" panose="02040503050406030204" pitchFamily="18" charset="0"/>
              <a:ea typeface="Cambria Math" panose="02040503050406030204" pitchFamily="18" charset="0"/>
            </a:endParaRPr>
          </a:p>
        </p:txBody>
      </p:sp>
      <p:pic>
        <p:nvPicPr>
          <p:cNvPr id="21" name="Picture 20">
            <a:extLst>
              <a:ext uri="{FF2B5EF4-FFF2-40B4-BE49-F238E27FC236}">
                <a16:creationId xmlns:a16="http://schemas.microsoft.com/office/drawing/2014/main" id="{3A4F60B1-AFF9-DDA5-AA2E-CA60661D6AF7}"/>
              </a:ext>
            </a:extLst>
          </p:cNvPr>
          <p:cNvPicPr>
            <a:picLocks noChangeAspect="1"/>
          </p:cNvPicPr>
          <p:nvPr/>
        </p:nvPicPr>
        <p:blipFill>
          <a:blip r:embed="rId7"/>
          <a:stretch>
            <a:fillRect/>
          </a:stretch>
        </p:blipFill>
        <p:spPr>
          <a:xfrm>
            <a:off x="12250000" y="7764763"/>
            <a:ext cx="2339543" cy="39627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9525" y="0"/>
            <a:ext cx="14630400" cy="8229600"/>
          </a:xfrm>
          <a:prstGeom prst="rect">
            <a:avLst/>
          </a:prstGeom>
          <a:solidFill>
            <a:srgbClr val="FFFFFF">
              <a:alpha val="85000"/>
            </a:srgbClr>
          </a:solidFill>
          <a:ln/>
        </p:spPr>
      </p:sp>
      <p:sp>
        <p:nvSpPr>
          <p:cNvPr id="4" name="Text 1"/>
          <p:cNvSpPr/>
          <p:nvPr/>
        </p:nvSpPr>
        <p:spPr>
          <a:xfrm>
            <a:off x="793790" y="1187648"/>
            <a:ext cx="2108716" cy="263485"/>
          </a:xfrm>
          <a:prstGeom prst="rect">
            <a:avLst/>
          </a:prstGeom>
          <a:noFill/>
          <a:ln/>
        </p:spPr>
        <p:txBody>
          <a:bodyPr wrap="none" lIns="0" tIns="0" rIns="0" bIns="0" rtlCol="0" anchor="t"/>
          <a:lstStyle/>
          <a:p>
            <a:pPr marL="0" indent="0" algn="l">
              <a:lnSpc>
                <a:spcPts val="2050"/>
              </a:lnSpc>
              <a:buNone/>
            </a:pPr>
            <a:r>
              <a:rPr lang="en-US" sz="2500" b="1" dirty="0">
                <a:solidFill>
                  <a:srgbClr val="000000"/>
                </a:solidFill>
                <a:latin typeface="Cambria Math" panose="02040503050406030204" pitchFamily="18" charset="0"/>
                <a:ea typeface="Cambria Math" panose="02040503050406030204" pitchFamily="18" charset="0"/>
                <a:cs typeface="Inter Bold" pitchFamily="34" charset="-120"/>
              </a:rPr>
              <a:t>Data Foundation</a:t>
            </a:r>
            <a:endParaRPr lang="en-US" sz="2500" dirty="0">
              <a:latin typeface="Cambria Math" panose="02040503050406030204" pitchFamily="18" charset="0"/>
              <a:ea typeface="Cambria Math" panose="02040503050406030204" pitchFamily="18" charset="0"/>
            </a:endParaRPr>
          </a:p>
        </p:txBody>
      </p:sp>
      <p:sp>
        <p:nvSpPr>
          <p:cNvPr id="5" name="Text 2"/>
          <p:cNvSpPr/>
          <p:nvPr/>
        </p:nvSpPr>
        <p:spPr>
          <a:xfrm>
            <a:off x="793790" y="1508403"/>
            <a:ext cx="6361509" cy="527090"/>
          </a:xfrm>
          <a:prstGeom prst="rect">
            <a:avLst/>
          </a:prstGeom>
          <a:noFill/>
          <a:ln/>
        </p:spPr>
        <p:txBody>
          <a:bodyPr wrap="none" lIns="0" tIns="0" rIns="0" bIns="0" rtlCol="0" anchor="t"/>
          <a:lstStyle/>
          <a:p>
            <a:pPr marL="0" indent="0" algn="l">
              <a:lnSpc>
                <a:spcPts val="4150"/>
              </a:lnSpc>
              <a:buNone/>
            </a:pPr>
            <a:r>
              <a:rPr lang="en-US" sz="1900" b="1" dirty="0">
                <a:solidFill>
                  <a:srgbClr val="000000"/>
                </a:solidFill>
                <a:latin typeface="Cambria Math" panose="02040503050406030204" pitchFamily="18" charset="0"/>
                <a:ea typeface="Cambria Math" panose="02040503050406030204" pitchFamily="18" charset="0"/>
                <a:cs typeface="Inter Bold" pitchFamily="34" charset="-120"/>
              </a:rPr>
              <a:t>Datasets  Powering  Each  Model</a:t>
            </a:r>
            <a:endParaRPr lang="en-US" sz="1900" dirty="0">
              <a:latin typeface="Cambria Math" panose="02040503050406030204" pitchFamily="18" charset="0"/>
              <a:ea typeface="Cambria Math" panose="02040503050406030204" pitchFamily="18" charset="0"/>
            </a:endParaRPr>
          </a:p>
        </p:txBody>
      </p:sp>
      <p:sp>
        <p:nvSpPr>
          <p:cNvPr id="6" name="Shape 3"/>
          <p:cNvSpPr/>
          <p:nvPr/>
        </p:nvSpPr>
        <p:spPr>
          <a:xfrm>
            <a:off x="793790" y="2250519"/>
            <a:ext cx="13042821" cy="648414"/>
          </a:xfrm>
          <a:prstGeom prst="roundRect">
            <a:avLst>
              <a:gd name="adj" fmla="val 10927"/>
            </a:avLst>
          </a:prstGeom>
          <a:solidFill>
            <a:srgbClr val="C7C9EA"/>
          </a:solidFill>
          <a:ln/>
        </p:spPr>
      </p:sp>
      <p:pic>
        <p:nvPicPr>
          <p:cNvPr id="7" name="Image 1" descr="preencoded.png"/>
          <p:cNvPicPr>
            <a:picLocks noChangeAspect="1"/>
          </p:cNvPicPr>
          <p:nvPr/>
        </p:nvPicPr>
        <p:blipFill>
          <a:blip r:embed="rId4"/>
          <a:stretch>
            <a:fillRect/>
          </a:stretch>
        </p:blipFill>
        <p:spPr>
          <a:xfrm>
            <a:off x="962382" y="2496622"/>
            <a:ext cx="210860" cy="168593"/>
          </a:xfrm>
          <a:prstGeom prst="rect">
            <a:avLst/>
          </a:prstGeom>
        </p:spPr>
      </p:pic>
      <p:sp>
        <p:nvSpPr>
          <p:cNvPr id="8" name="Text 4"/>
          <p:cNvSpPr/>
          <p:nvPr/>
        </p:nvSpPr>
        <p:spPr>
          <a:xfrm>
            <a:off x="1341834" y="2436019"/>
            <a:ext cx="12326183" cy="249674"/>
          </a:xfrm>
          <a:prstGeom prst="rect">
            <a:avLst/>
          </a:prstGeom>
          <a:noFill/>
          <a:ln/>
        </p:spPr>
        <p:txBody>
          <a:bodyPr wrap="none" lIns="0" tIns="0" rIns="0" bIns="0" rtlCol="0" anchor="t"/>
          <a:lstStyle/>
          <a:p>
            <a:pPr marL="0" indent="0" algn="l">
              <a:lnSpc>
                <a:spcPts val="1950"/>
              </a:lnSpc>
              <a:buNone/>
            </a:pPr>
            <a:r>
              <a:rPr lang="en-US" sz="1600" dirty="0">
                <a:solidFill>
                  <a:srgbClr val="000000"/>
                </a:solidFill>
                <a:latin typeface="Cambria Math" panose="02040503050406030204" pitchFamily="18" charset="0"/>
                <a:ea typeface="Cambria Math" panose="02040503050406030204" pitchFamily="18" charset="0"/>
                <a:cs typeface="Inter" pitchFamily="34" charset="-120"/>
              </a:rPr>
              <a:t>Data from three specialized datasets forms the backbone of the model training pipeline.</a:t>
            </a:r>
            <a:endParaRPr lang="en-US" sz="1600" dirty="0">
              <a:latin typeface="Cambria Math" panose="02040503050406030204" pitchFamily="18" charset="0"/>
              <a:ea typeface="Cambria Math" panose="02040503050406030204" pitchFamily="18" charset="0"/>
            </a:endParaRPr>
          </a:p>
        </p:txBody>
      </p:sp>
      <p:sp>
        <p:nvSpPr>
          <p:cNvPr id="9" name="Shape 5"/>
          <p:cNvSpPr/>
          <p:nvPr/>
        </p:nvSpPr>
        <p:spPr>
          <a:xfrm>
            <a:off x="793790" y="3060144"/>
            <a:ext cx="13042821" cy="1231702"/>
          </a:xfrm>
          <a:prstGeom prst="roundRect">
            <a:avLst>
              <a:gd name="adj" fmla="val 5753"/>
            </a:avLst>
          </a:prstGeom>
          <a:solidFill>
            <a:srgbClr val="FFFFFF"/>
          </a:solidFill>
          <a:ln w="22860">
            <a:solidFill>
              <a:srgbClr val="C0C1D7"/>
            </a:solidFill>
            <a:prstDash val="solid"/>
          </a:ln>
        </p:spPr>
      </p:sp>
      <p:sp>
        <p:nvSpPr>
          <p:cNvPr id="10" name="Shape 6"/>
          <p:cNvSpPr/>
          <p:nvPr/>
        </p:nvSpPr>
        <p:spPr>
          <a:xfrm>
            <a:off x="816650" y="3083004"/>
            <a:ext cx="674727" cy="1185982"/>
          </a:xfrm>
          <a:prstGeom prst="roundRect">
            <a:avLst>
              <a:gd name="adj" fmla="val 6436"/>
            </a:avLst>
          </a:prstGeom>
          <a:solidFill>
            <a:srgbClr val="DADBF1"/>
          </a:solidFill>
          <a:ln/>
        </p:spPr>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23699" y="3549372"/>
            <a:ext cx="253008" cy="253008"/>
          </a:xfrm>
          <a:prstGeom prst="rect">
            <a:avLst/>
          </a:prstGeom>
        </p:spPr>
      </p:pic>
      <p:sp>
        <p:nvSpPr>
          <p:cNvPr id="12" name="Text 7"/>
          <p:cNvSpPr/>
          <p:nvPr/>
        </p:nvSpPr>
        <p:spPr>
          <a:xfrm>
            <a:off x="1634728" y="3251597"/>
            <a:ext cx="2108716" cy="263485"/>
          </a:xfrm>
          <a:prstGeom prst="rect">
            <a:avLst/>
          </a:prstGeom>
          <a:noFill/>
          <a:ln/>
        </p:spPr>
        <p:txBody>
          <a:bodyPr wrap="none" lIns="0" tIns="0" rIns="0" bIns="0" rtlCol="0" anchor="t"/>
          <a:lstStyle/>
          <a:p>
            <a:pPr marL="0" indent="0" algn="l">
              <a:lnSpc>
                <a:spcPts val="2050"/>
              </a:lnSpc>
              <a:buNone/>
            </a:pPr>
            <a:r>
              <a:rPr lang="en-US" sz="1600" b="1" dirty="0">
                <a:solidFill>
                  <a:srgbClr val="272525"/>
                </a:solidFill>
                <a:latin typeface="Cambria Math" panose="02040503050406030204" pitchFamily="18" charset="0"/>
                <a:ea typeface="Cambria Math" panose="02040503050406030204" pitchFamily="18" charset="0"/>
                <a:cs typeface="Inter Bold" pitchFamily="34" charset="-120"/>
              </a:rPr>
              <a:t>Fake News Dataset</a:t>
            </a:r>
            <a:endParaRPr lang="en-US" sz="1600" dirty="0">
              <a:latin typeface="Cambria Math" panose="02040503050406030204" pitchFamily="18" charset="0"/>
              <a:ea typeface="Cambria Math" panose="02040503050406030204" pitchFamily="18" charset="0"/>
            </a:endParaRPr>
          </a:p>
        </p:txBody>
      </p:sp>
      <p:sp>
        <p:nvSpPr>
          <p:cNvPr id="13" name="Text 8"/>
          <p:cNvSpPr/>
          <p:nvPr/>
        </p:nvSpPr>
        <p:spPr>
          <a:xfrm>
            <a:off x="1634728" y="3601045"/>
            <a:ext cx="12010430" cy="499348"/>
          </a:xfrm>
          <a:prstGeom prst="rect">
            <a:avLst/>
          </a:prstGeom>
          <a:noFill/>
          <a:ln/>
        </p:spPr>
        <p:txBody>
          <a:bodyPr wrap="square" lIns="0" tIns="0" rIns="0" bIns="0" rtlCol="0" anchor="t"/>
          <a:lstStyle/>
          <a:p>
            <a:pPr marL="0" indent="0" algn="l">
              <a:lnSpc>
                <a:spcPts val="1950"/>
              </a:lnSpc>
              <a:buNone/>
            </a:pPr>
            <a:r>
              <a:rPr lang="en-US" sz="1600" b="1" dirty="0">
                <a:solidFill>
                  <a:srgbClr val="272525"/>
                </a:solidFill>
                <a:latin typeface="Cambria Math" panose="02040503050406030204" pitchFamily="18" charset="0"/>
                <a:ea typeface="Cambria Math" panose="02040503050406030204" pitchFamily="18" charset="0"/>
                <a:cs typeface="Inter" pitchFamily="34" charset="-120"/>
              </a:rPr>
              <a:t>44,921 total records</a:t>
            </a:r>
            <a:r>
              <a:rPr lang="en-US" sz="1600" dirty="0">
                <a:solidFill>
                  <a:srgbClr val="272525"/>
                </a:solidFill>
                <a:latin typeface="Cambria Math" panose="02040503050406030204" pitchFamily="18" charset="0"/>
                <a:ea typeface="Cambria Math" panose="02040503050406030204" pitchFamily="18" charset="0"/>
                <a:cs typeface="Inter" pitchFamily="34" charset="-120"/>
              </a:rPr>
              <a:t> across two balanced classes: </a:t>
            </a:r>
            <a:r>
              <a:rPr lang="en-US" sz="1600" b="1" dirty="0">
                <a:solidFill>
                  <a:srgbClr val="272525"/>
                </a:solidFill>
                <a:latin typeface="Cambria Math" panose="02040503050406030204" pitchFamily="18" charset="0"/>
                <a:ea typeface="Cambria Math" panose="02040503050406030204" pitchFamily="18" charset="0"/>
                <a:cs typeface="Inter" pitchFamily="34" charset="-120"/>
              </a:rPr>
              <a:t>21,418 real</a:t>
            </a:r>
            <a:r>
              <a:rPr lang="en-US" sz="1600" dirty="0">
                <a:solidFill>
                  <a:srgbClr val="272525"/>
                </a:solidFill>
                <a:latin typeface="Cambria Math" panose="02040503050406030204" pitchFamily="18" charset="0"/>
                <a:ea typeface="Cambria Math" panose="02040503050406030204" pitchFamily="18" charset="0"/>
                <a:cs typeface="Inter" pitchFamily="34" charset="-120"/>
              </a:rPr>
              <a:t> and </a:t>
            </a:r>
            <a:r>
              <a:rPr lang="en-US" sz="1600" b="1" dirty="0">
                <a:solidFill>
                  <a:srgbClr val="272525"/>
                </a:solidFill>
                <a:latin typeface="Cambria Math" panose="02040503050406030204" pitchFamily="18" charset="0"/>
                <a:ea typeface="Cambria Math" panose="02040503050406030204" pitchFamily="18" charset="0"/>
                <a:cs typeface="Inter" pitchFamily="34" charset="-120"/>
              </a:rPr>
              <a:t>23,503 fake</a:t>
            </a:r>
            <a:r>
              <a:rPr lang="en-US" sz="1600" dirty="0">
                <a:solidFill>
                  <a:srgbClr val="272525"/>
                </a:solidFill>
                <a:latin typeface="Cambria Math" panose="02040503050406030204" pitchFamily="18" charset="0"/>
                <a:ea typeface="Cambria Math" panose="02040503050406030204" pitchFamily="18" charset="0"/>
                <a:cs typeface="Inter" pitchFamily="34" charset="-120"/>
              </a:rPr>
              <a:t> news articles. Each record contains full text content and a binary Real/Fake label  ideal for training a robust neural network classifier.</a:t>
            </a:r>
            <a:endParaRPr lang="en-US" sz="1600" dirty="0">
              <a:latin typeface="Cambria Math" panose="02040503050406030204" pitchFamily="18" charset="0"/>
              <a:ea typeface="Cambria Math" panose="02040503050406030204" pitchFamily="18" charset="0"/>
            </a:endParaRPr>
          </a:p>
        </p:txBody>
      </p:sp>
      <p:sp>
        <p:nvSpPr>
          <p:cNvPr id="14" name="Shape 9"/>
          <p:cNvSpPr/>
          <p:nvPr/>
        </p:nvSpPr>
        <p:spPr>
          <a:xfrm>
            <a:off x="793790" y="4435197"/>
            <a:ext cx="13042821" cy="1231702"/>
          </a:xfrm>
          <a:prstGeom prst="roundRect">
            <a:avLst>
              <a:gd name="adj" fmla="val 5753"/>
            </a:avLst>
          </a:prstGeom>
          <a:solidFill>
            <a:srgbClr val="FFFFFF"/>
          </a:solidFill>
          <a:ln w="22860">
            <a:solidFill>
              <a:srgbClr val="C0C1D7"/>
            </a:solidFill>
            <a:prstDash val="solid"/>
          </a:ln>
        </p:spPr>
      </p:sp>
      <p:sp>
        <p:nvSpPr>
          <p:cNvPr id="15" name="Shape 10"/>
          <p:cNvSpPr/>
          <p:nvPr/>
        </p:nvSpPr>
        <p:spPr>
          <a:xfrm>
            <a:off x="816650" y="4458057"/>
            <a:ext cx="674727" cy="1185982"/>
          </a:xfrm>
          <a:prstGeom prst="roundRect">
            <a:avLst>
              <a:gd name="adj" fmla="val 6436"/>
            </a:avLst>
          </a:prstGeom>
          <a:solidFill>
            <a:srgbClr val="DADBF1"/>
          </a:solidFill>
          <a:ln/>
        </p:spPr>
      </p:sp>
      <p:pic>
        <p:nvPicPr>
          <p:cNvPr id="1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23699" y="4924425"/>
            <a:ext cx="253008" cy="253008"/>
          </a:xfrm>
          <a:prstGeom prst="rect">
            <a:avLst/>
          </a:prstGeom>
        </p:spPr>
      </p:pic>
      <p:sp>
        <p:nvSpPr>
          <p:cNvPr id="17" name="Text 11"/>
          <p:cNvSpPr/>
          <p:nvPr/>
        </p:nvSpPr>
        <p:spPr>
          <a:xfrm>
            <a:off x="1634728" y="4626650"/>
            <a:ext cx="2131933" cy="263485"/>
          </a:xfrm>
          <a:prstGeom prst="rect">
            <a:avLst/>
          </a:prstGeom>
          <a:noFill/>
          <a:ln/>
        </p:spPr>
        <p:txBody>
          <a:bodyPr wrap="none" lIns="0" tIns="0" rIns="0" bIns="0" rtlCol="0" anchor="t"/>
          <a:lstStyle/>
          <a:p>
            <a:pPr marL="0" indent="0" algn="l">
              <a:lnSpc>
                <a:spcPts val="2050"/>
              </a:lnSpc>
              <a:buNone/>
            </a:pPr>
            <a:r>
              <a:rPr lang="en-US" sz="1600" b="1" dirty="0">
                <a:solidFill>
                  <a:srgbClr val="272525"/>
                </a:solidFill>
                <a:latin typeface="Cambria Math" panose="02040503050406030204" pitchFamily="18" charset="0"/>
                <a:ea typeface="Cambria Math" panose="02040503050406030204" pitchFamily="18" charset="0"/>
                <a:cs typeface="Inter Bold" pitchFamily="34" charset="-120"/>
              </a:rPr>
              <a:t>Dark Pattern Dataset</a:t>
            </a:r>
            <a:endParaRPr lang="en-US" sz="1600" dirty="0">
              <a:latin typeface="Cambria Math" panose="02040503050406030204" pitchFamily="18" charset="0"/>
              <a:ea typeface="Cambria Math" panose="02040503050406030204" pitchFamily="18" charset="0"/>
            </a:endParaRPr>
          </a:p>
        </p:txBody>
      </p:sp>
      <p:sp>
        <p:nvSpPr>
          <p:cNvPr id="18" name="Text 12"/>
          <p:cNvSpPr/>
          <p:nvPr/>
        </p:nvSpPr>
        <p:spPr>
          <a:xfrm>
            <a:off x="1634728" y="4976098"/>
            <a:ext cx="12010430" cy="499348"/>
          </a:xfrm>
          <a:prstGeom prst="rect">
            <a:avLst/>
          </a:prstGeom>
          <a:noFill/>
          <a:ln/>
        </p:spPr>
        <p:txBody>
          <a:bodyPr wrap="square" lIns="0" tIns="0" rIns="0" bIns="0" rtlCol="0" anchor="t"/>
          <a:lstStyle/>
          <a:p>
            <a:pPr marL="0" indent="0" algn="l">
              <a:lnSpc>
                <a:spcPts val="1950"/>
              </a:lnSpc>
              <a:buNone/>
            </a:pPr>
            <a:r>
              <a:rPr lang="en-US" sz="1600" b="1" dirty="0">
                <a:solidFill>
                  <a:srgbClr val="272525"/>
                </a:solidFill>
                <a:latin typeface="Cambria Math" panose="02040503050406030204" pitchFamily="18" charset="0"/>
                <a:ea typeface="Cambria Math" panose="02040503050406030204" pitchFamily="18" charset="0"/>
                <a:cs typeface="Inter" pitchFamily="34" charset="-120"/>
              </a:rPr>
              <a:t>2,347 labeled sentences</a:t>
            </a:r>
            <a:r>
              <a:rPr lang="en-US" sz="1600" dirty="0">
                <a:solidFill>
                  <a:srgbClr val="272525"/>
                </a:solidFill>
                <a:latin typeface="Cambria Math" panose="02040503050406030204" pitchFamily="18" charset="0"/>
                <a:ea typeface="Cambria Math" panose="02040503050406030204" pitchFamily="18" charset="0"/>
                <a:cs typeface="Inter" pitchFamily="34" charset="-120"/>
              </a:rPr>
              <a:t> extracted from real website interfaces. Each entry is tagged as either a Dark Pattern or Normal text, enabling binary classification of deceptive UX copy with Word2Vec embeddings.</a:t>
            </a:r>
            <a:endParaRPr lang="en-US" sz="1600" dirty="0">
              <a:latin typeface="Cambria Math" panose="02040503050406030204" pitchFamily="18" charset="0"/>
              <a:ea typeface="Cambria Math" panose="02040503050406030204" pitchFamily="18" charset="0"/>
            </a:endParaRPr>
          </a:p>
        </p:txBody>
      </p:sp>
      <p:sp>
        <p:nvSpPr>
          <p:cNvPr id="19" name="Shape 13"/>
          <p:cNvSpPr/>
          <p:nvPr/>
        </p:nvSpPr>
        <p:spPr>
          <a:xfrm>
            <a:off x="793790" y="5810250"/>
            <a:ext cx="13042821" cy="1231702"/>
          </a:xfrm>
          <a:prstGeom prst="roundRect">
            <a:avLst>
              <a:gd name="adj" fmla="val 5753"/>
            </a:avLst>
          </a:prstGeom>
          <a:solidFill>
            <a:srgbClr val="FFFFFF"/>
          </a:solidFill>
          <a:ln w="22860">
            <a:solidFill>
              <a:srgbClr val="C0C1D7"/>
            </a:solidFill>
            <a:prstDash val="solid"/>
          </a:ln>
        </p:spPr>
      </p:sp>
      <p:sp>
        <p:nvSpPr>
          <p:cNvPr id="20" name="Shape 14"/>
          <p:cNvSpPr/>
          <p:nvPr/>
        </p:nvSpPr>
        <p:spPr>
          <a:xfrm>
            <a:off x="816650" y="5833110"/>
            <a:ext cx="674727" cy="1185982"/>
          </a:xfrm>
          <a:prstGeom prst="roundRect">
            <a:avLst>
              <a:gd name="adj" fmla="val 6436"/>
            </a:avLst>
          </a:prstGeom>
          <a:solidFill>
            <a:srgbClr val="DADBF1"/>
          </a:solidFill>
          <a:ln/>
        </p:spPr>
      </p:sp>
      <p:pic>
        <p:nvPicPr>
          <p:cNvPr id="2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23699" y="6299478"/>
            <a:ext cx="253008" cy="253008"/>
          </a:xfrm>
          <a:prstGeom prst="rect">
            <a:avLst/>
          </a:prstGeom>
        </p:spPr>
      </p:pic>
      <p:sp>
        <p:nvSpPr>
          <p:cNvPr id="22" name="Text 15"/>
          <p:cNvSpPr/>
          <p:nvPr/>
        </p:nvSpPr>
        <p:spPr>
          <a:xfrm>
            <a:off x="1634728" y="6001703"/>
            <a:ext cx="2535674" cy="263485"/>
          </a:xfrm>
          <a:prstGeom prst="rect">
            <a:avLst/>
          </a:prstGeom>
          <a:noFill/>
          <a:ln/>
        </p:spPr>
        <p:txBody>
          <a:bodyPr wrap="none" lIns="0" tIns="0" rIns="0" bIns="0" rtlCol="0" anchor="t"/>
          <a:lstStyle/>
          <a:p>
            <a:pPr marL="0" indent="0" algn="l">
              <a:lnSpc>
                <a:spcPts val="2050"/>
              </a:lnSpc>
              <a:buNone/>
            </a:pPr>
            <a:r>
              <a:rPr lang="en-US" sz="1600" b="1" dirty="0">
                <a:solidFill>
                  <a:srgbClr val="272525"/>
                </a:solidFill>
                <a:latin typeface="Cambria Math" panose="02040503050406030204" pitchFamily="18" charset="0"/>
                <a:ea typeface="Cambria Math" panose="02040503050406030204" pitchFamily="18" charset="0"/>
                <a:cs typeface="Inter Bold" pitchFamily="34" charset="-120"/>
              </a:rPr>
              <a:t>CASIA Deepfake Dataset</a:t>
            </a:r>
            <a:endParaRPr lang="en-US" sz="1600" dirty="0">
              <a:latin typeface="Cambria Math" panose="02040503050406030204" pitchFamily="18" charset="0"/>
              <a:ea typeface="Cambria Math" panose="02040503050406030204" pitchFamily="18" charset="0"/>
            </a:endParaRPr>
          </a:p>
        </p:txBody>
      </p:sp>
      <p:sp>
        <p:nvSpPr>
          <p:cNvPr id="23" name="Text 16"/>
          <p:cNvSpPr/>
          <p:nvPr/>
        </p:nvSpPr>
        <p:spPr>
          <a:xfrm>
            <a:off x="1634728" y="6351151"/>
            <a:ext cx="12010430" cy="499348"/>
          </a:xfrm>
          <a:prstGeom prst="rect">
            <a:avLst/>
          </a:prstGeom>
          <a:noFill/>
          <a:ln/>
        </p:spPr>
        <p:txBody>
          <a:bodyPr wrap="square" lIns="0" tIns="0" rIns="0" bIns="0" rtlCol="0" anchor="t"/>
          <a:lstStyle/>
          <a:p>
            <a:pPr>
              <a:lnSpc>
                <a:spcPts val="1950"/>
              </a:lnSpc>
            </a:pPr>
            <a:r>
              <a:rPr lang="en-US" sz="1600" b="1" dirty="0"/>
              <a:t>The CASIA Image Manipulation Dataset </a:t>
            </a:r>
            <a:r>
              <a:rPr lang="en-US" sz="1600" dirty="0"/>
              <a:t>contains authentic (Au) and tampered (</a:t>
            </a:r>
            <a:r>
              <a:rPr lang="en-US" sz="1600" dirty="0" err="1"/>
              <a:t>Tp</a:t>
            </a:r>
            <a:r>
              <a:rPr lang="en-US" sz="1600" dirty="0"/>
              <a:t>) images used to train a MobileNetV2 CNN model. It includes a total of </a:t>
            </a:r>
            <a:r>
              <a:rPr lang="en-US" sz="1600" b="1" dirty="0"/>
              <a:t>12,614 images</a:t>
            </a:r>
            <a:r>
              <a:rPr lang="en-US" sz="1600" dirty="0"/>
              <a:t>, with </a:t>
            </a:r>
            <a:r>
              <a:rPr lang="en-US" sz="1600" b="1" dirty="0"/>
              <a:t>10,092 for training</a:t>
            </a:r>
            <a:r>
              <a:rPr lang="en-US" sz="1600" dirty="0"/>
              <a:t> and </a:t>
            </a:r>
            <a:r>
              <a:rPr lang="en-US" sz="1600" b="1" dirty="0"/>
              <a:t>2,522 for validation</a:t>
            </a:r>
            <a:r>
              <a:rPr lang="en-US" sz="1600" dirty="0"/>
              <a:t>, classified as </a:t>
            </a:r>
            <a:r>
              <a:rPr lang="en-US" sz="1600" b="1" dirty="0"/>
              <a:t>fake (0)</a:t>
            </a:r>
            <a:r>
              <a:rPr lang="en-US" sz="1600" dirty="0"/>
              <a:t> and </a:t>
            </a:r>
            <a:r>
              <a:rPr lang="en-US" sz="1600" b="1" dirty="0"/>
              <a:t>real (1)</a:t>
            </a:r>
            <a:r>
              <a:rPr lang="en-US" sz="1600" dirty="0"/>
              <a:t>.</a:t>
            </a:r>
            <a:endParaRPr lang="en-US" sz="1600" dirty="0">
              <a:latin typeface="Cambria Math" panose="02040503050406030204" pitchFamily="18" charset="0"/>
              <a:ea typeface="Cambria Math" panose="0204050305040603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964644"/>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Cambria Math" panose="02040503050406030204" pitchFamily="18" charset="0"/>
                <a:ea typeface="Cambria Math" panose="02040503050406030204" pitchFamily="18" charset="0"/>
                <a:cs typeface="Inter Bold" pitchFamily="34" charset="-120"/>
              </a:rPr>
              <a:t>Methodology</a:t>
            </a:r>
            <a:endParaRPr lang="en-US" sz="1950" dirty="0">
              <a:latin typeface="Cambria Math" panose="02040503050406030204" pitchFamily="18" charset="0"/>
              <a:ea typeface="Cambria Math" panose="02040503050406030204" pitchFamily="18" charset="0"/>
            </a:endParaRPr>
          </a:p>
        </p:txBody>
      </p:sp>
      <p:sp>
        <p:nvSpPr>
          <p:cNvPr id="3" name="Text 1"/>
          <p:cNvSpPr/>
          <p:nvPr/>
        </p:nvSpPr>
        <p:spPr>
          <a:xfrm>
            <a:off x="793790" y="1354098"/>
            <a:ext cx="9272468"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Cambria Math" panose="02040503050406030204" pitchFamily="18" charset="0"/>
                <a:ea typeface="Cambria Math" panose="02040503050406030204" pitchFamily="18" charset="0"/>
                <a:cs typeface="Inter Bold" pitchFamily="34" charset="-120"/>
              </a:rPr>
              <a:t>Model Architecture &amp; Training Pipeline</a:t>
            </a:r>
            <a:endParaRPr lang="en-US" sz="3900" dirty="0">
              <a:latin typeface="Cambria Math" panose="02040503050406030204" pitchFamily="18" charset="0"/>
              <a:ea typeface="Cambria Math" panose="02040503050406030204" pitchFamily="18" charset="0"/>
            </a:endParaRPr>
          </a:p>
        </p:txBody>
      </p:sp>
      <p:sp>
        <p:nvSpPr>
          <p:cNvPr id="4" name="Shape 2"/>
          <p:cNvSpPr/>
          <p:nvPr/>
        </p:nvSpPr>
        <p:spPr>
          <a:xfrm>
            <a:off x="650915" y="2271832"/>
            <a:ext cx="6565106" cy="4993124"/>
          </a:xfrm>
          <a:prstGeom prst="roundRect">
            <a:avLst>
              <a:gd name="adj" fmla="val 2862"/>
            </a:avLst>
          </a:prstGeom>
          <a:solidFill>
            <a:srgbClr val="FFFFFF"/>
          </a:solidFill>
          <a:ln/>
        </p:spPr>
      </p:sp>
      <p:sp>
        <p:nvSpPr>
          <p:cNvPr id="5" name="Text 3"/>
          <p:cNvSpPr/>
          <p:nvPr/>
        </p:nvSpPr>
        <p:spPr>
          <a:xfrm>
            <a:off x="849273" y="2470190"/>
            <a:ext cx="2480905" cy="310158"/>
          </a:xfrm>
          <a:prstGeom prst="rect">
            <a:avLst/>
          </a:prstGeom>
          <a:noFill/>
          <a:ln/>
        </p:spPr>
        <p:txBody>
          <a:bodyPr wrap="none" lIns="0" tIns="0" rIns="0" bIns="0" rtlCol="0" anchor="t"/>
          <a:lstStyle/>
          <a:p>
            <a:pPr marL="0" indent="0" algn="l">
              <a:lnSpc>
                <a:spcPts val="2400"/>
              </a:lnSpc>
              <a:buNone/>
            </a:pPr>
            <a:r>
              <a:rPr lang="en-US" sz="2000" b="1" dirty="0">
                <a:solidFill>
                  <a:srgbClr val="000000"/>
                </a:solidFill>
                <a:latin typeface="Cambria Math" panose="02040503050406030204" pitchFamily="18" charset="0"/>
                <a:ea typeface="Cambria Math" panose="02040503050406030204" pitchFamily="18" charset="0"/>
                <a:cs typeface="Inter Bold" pitchFamily="34" charset="-120"/>
              </a:rPr>
              <a:t>Text-Based Models</a:t>
            </a:r>
            <a:endParaRPr lang="en-US" sz="2000" dirty="0">
              <a:latin typeface="Cambria Math" panose="02040503050406030204" pitchFamily="18" charset="0"/>
              <a:ea typeface="Cambria Math" panose="02040503050406030204" pitchFamily="18" charset="0"/>
            </a:endParaRPr>
          </a:p>
        </p:txBody>
      </p:sp>
      <p:sp>
        <p:nvSpPr>
          <p:cNvPr id="6" name="Text 4"/>
          <p:cNvSpPr/>
          <p:nvPr/>
        </p:nvSpPr>
        <p:spPr>
          <a:xfrm>
            <a:off x="849273" y="2978706"/>
            <a:ext cx="6168390" cy="317540"/>
          </a:xfrm>
          <a:prstGeom prst="rect">
            <a:avLst/>
          </a:prstGeom>
          <a:noFill/>
          <a:ln/>
        </p:spPr>
        <p:txBody>
          <a:bodyPr wrap="none" lIns="0" tIns="0" rIns="0" bIns="0" rtlCol="0" anchor="t"/>
          <a:lstStyle/>
          <a:p>
            <a:pPr marL="0" indent="0" algn="l">
              <a:lnSpc>
                <a:spcPts val="2500"/>
              </a:lnSpc>
              <a:buNone/>
            </a:pPr>
            <a:r>
              <a:rPr lang="en-US" sz="1600" b="1" dirty="0">
                <a:solidFill>
                  <a:srgbClr val="272525"/>
                </a:solidFill>
                <a:latin typeface="Cambria Math" panose="02040503050406030204" pitchFamily="18" charset="0"/>
                <a:ea typeface="Cambria Math" panose="02040503050406030204" pitchFamily="18" charset="0"/>
                <a:cs typeface="Inter" pitchFamily="34" charset="-120"/>
              </a:rPr>
              <a:t>Fake News Detection</a:t>
            </a:r>
            <a:endParaRPr lang="en-US" sz="1600" dirty="0">
              <a:latin typeface="Cambria Math" panose="02040503050406030204" pitchFamily="18" charset="0"/>
              <a:ea typeface="Cambria Math" panose="02040503050406030204" pitchFamily="18" charset="0"/>
            </a:endParaRPr>
          </a:p>
        </p:txBody>
      </p:sp>
      <p:sp>
        <p:nvSpPr>
          <p:cNvPr id="7" name="Text 5"/>
          <p:cNvSpPr/>
          <p:nvPr/>
        </p:nvSpPr>
        <p:spPr>
          <a:xfrm>
            <a:off x="849273" y="3474839"/>
            <a:ext cx="6168390" cy="1478399"/>
          </a:xfrm>
          <a:prstGeom prst="rect">
            <a:avLst/>
          </a:prstGeom>
          <a:noFill/>
          <a:ln/>
        </p:spPr>
        <p:txBody>
          <a:bodyPr wrap="square" lIns="0" tIns="0" rIns="0" bIns="0" rtlCol="0" anchor="t"/>
          <a:lstStyle/>
          <a:p>
            <a:pPr marL="342900" indent="-342900" algn="l">
              <a:lnSpc>
                <a:spcPts val="2500"/>
              </a:lnSpc>
              <a:buSzPct val="100000"/>
              <a:buChar char="•"/>
            </a:pPr>
            <a:r>
              <a:rPr lang="en-US" sz="1600" dirty="0">
                <a:solidFill>
                  <a:srgbClr val="272525"/>
                </a:solidFill>
                <a:latin typeface="Cambria Math" panose="02040503050406030204" pitchFamily="18" charset="0"/>
                <a:ea typeface="Cambria Math" panose="02040503050406030204" pitchFamily="18" charset="0"/>
                <a:cs typeface="Inter" pitchFamily="34" charset="-120"/>
              </a:rPr>
              <a:t>Tokenization, stopword removal, text cleaning</a:t>
            </a:r>
            <a:endParaRPr lang="en-US" sz="1600" dirty="0">
              <a:latin typeface="Cambria Math" panose="02040503050406030204" pitchFamily="18" charset="0"/>
              <a:ea typeface="Cambria Math" panose="02040503050406030204" pitchFamily="18" charset="0"/>
            </a:endParaRPr>
          </a:p>
          <a:p>
            <a:pPr marL="342900" indent="-342900" algn="l">
              <a:lnSpc>
                <a:spcPts val="2500"/>
              </a:lnSpc>
              <a:buSzPct val="100000"/>
              <a:buChar char="•"/>
            </a:pPr>
            <a:r>
              <a:rPr lang="en-US" sz="1600" dirty="0">
                <a:solidFill>
                  <a:srgbClr val="272525"/>
                </a:solidFill>
                <a:latin typeface="Cambria Math" panose="02040503050406030204" pitchFamily="18" charset="0"/>
                <a:ea typeface="Cambria Math" panose="02040503050406030204" pitchFamily="18" charset="0"/>
                <a:cs typeface="Inter" pitchFamily="34" charset="-120"/>
              </a:rPr>
              <a:t>Word embeddings / vectorization for feature extraction</a:t>
            </a:r>
            <a:endParaRPr lang="en-US" sz="1600" dirty="0">
              <a:latin typeface="Cambria Math" panose="02040503050406030204" pitchFamily="18" charset="0"/>
              <a:ea typeface="Cambria Math" panose="02040503050406030204" pitchFamily="18" charset="0"/>
            </a:endParaRPr>
          </a:p>
          <a:p>
            <a:pPr marL="342900" indent="-342900" algn="l">
              <a:lnSpc>
                <a:spcPts val="2500"/>
              </a:lnSpc>
              <a:buSzPct val="100000"/>
              <a:buChar char="•"/>
            </a:pPr>
            <a:r>
              <a:rPr lang="en-US" sz="1600" dirty="0">
                <a:solidFill>
                  <a:srgbClr val="272525"/>
                </a:solidFill>
                <a:latin typeface="Cambria Math" panose="02040503050406030204" pitchFamily="18" charset="0"/>
                <a:ea typeface="Cambria Math" panose="02040503050406030204" pitchFamily="18" charset="0"/>
                <a:cs typeface="Inter" pitchFamily="34" charset="-120"/>
              </a:rPr>
              <a:t>Dense layers + ReLU + Dropout + Sigmoid output</a:t>
            </a:r>
            <a:endParaRPr lang="en-US" sz="1600" dirty="0">
              <a:latin typeface="Cambria Math" panose="02040503050406030204" pitchFamily="18" charset="0"/>
              <a:ea typeface="Cambria Math" panose="02040503050406030204" pitchFamily="18" charset="0"/>
            </a:endParaRPr>
          </a:p>
          <a:p>
            <a:pPr marL="342900" indent="-342900" algn="l">
              <a:lnSpc>
                <a:spcPts val="2500"/>
              </a:lnSpc>
              <a:buSzPct val="100000"/>
              <a:buChar char="•"/>
            </a:pPr>
            <a:r>
              <a:rPr lang="en-US" sz="1600" dirty="0">
                <a:solidFill>
                  <a:srgbClr val="272525"/>
                </a:solidFill>
                <a:latin typeface="Cambria Math" panose="02040503050406030204" pitchFamily="18" charset="0"/>
                <a:ea typeface="Cambria Math" panose="02040503050406030204" pitchFamily="18" charset="0"/>
                <a:cs typeface="Inter" pitchFamily="34" charset="-120"/>
              </a:rPr>
              <a:t>Optimizers compared: Adam, SGD, RMSprop</a:t>
            </a:r>
            <a:endParaRPr lang="en-US" sz="1600" dirty="0">
              <a:latin typeface="Cambria Math" panose="02040503050406030204" pitchFamily="18" charset="0"/>
              <a:ea typeface="Cambria Math" panose="02040503050406030204" pitchFamily="18" charset="0"/>
            </a:endParaRPr>
          </a:p>
        </p:txBody>
      </p:sp>
      <p:sp>
        <p:nvSpPr>
          <p:cNvPr id="8" name="Text 6"/>
          <p:cNvSpPr/>
          <p:nvPr/>
        </p:nvSpPr>
        <p:spPr>
          <a:xfrm>
            <a:off x="849273" y="5131832"/>
            <a:ext cx="6168390" cy="317540"/>
          </a:xfrm>
          <a:prstGeom prst="rect">
            <a:avLst/>
          </a:prstGeom>
          <a:noFill/>
          <a:ln/>
        </p:spPr>
        <p:txBody>
          <a:bodyPr wrap="none" lIns="0" tIns="0" rIns="0" bIns="0" rtlCol="0" anchor="t"/>
          <a:lstStyle/>
          <a:p>
            <a:pPr marL="0" indent="0" algn="l">
              <a:lnSpc>
                <a:spcPts val="2500"/>
              </a:lnSpc>
              <a:buNone/>
            </a:pPr>
            <a:r>
              <a:rPr lang="en-US" sz="1550" b="1" dirty="0">
                <a:solidFill>
                  <a:srgbClr val="272525"/>
                </a:solidFill>
                <a:latin typeface="Cambria Math" panose="02040503050406030204" pitchFamily="18" charset="0"/>
                <a:ea typeface="Cambria Math" panose="02040503050406030204" pitchFamily="18" charset="0"/>
                <a:cs typeface="Inter" pitchFamily="34" charset="-120"/>
              </a:rPr>
              <a:t>Dark Pattern </a:t>
            </a:r>
            <a:r>
              <a:rPr lang="en-US" sz="1600" b="1" dirty="0">
                <a:solidFill>
                  <a:srgbClr val="272525"/>
                </a:solidFill>
                <a:latin typeface="Cambria Math" panose="02040503050406030204" pitchFamily="18" charset="0"/>
                <a:ea typeface="Cambria Math" panose="02040503050406030204" pitchFamily="18" charset="0"/>
                <a:cs typeface="Inter" pitchFamily="34" charset="-120"/>
              </a:rPr>
              <a:t>Detection</a:t>
            </a:r>
            <a:endParaRPr lang="en-US" sz="1600" dirty="0">
              <a:latin typeface="Cambria Math" panose="02040503050406030204" pitchFamily="18" charset="0"/>
              <a:ea typeface="Cambria Math" panose="02040503050406030204" pitchFamily="18" charset="0"/>
            </a:endParaRPr>
          </a:p>
        </p:txBody>
      </p:sp>
      <p:sp>
        <p:nvSpPr>
          <p:cNvPr id="9" name="Text 7"/>
          <p:cNvSpPr/>
          <p:nvPr/>
        </p:nvSpPr>
        <p:spPr>
          <a:xfrm>
            <a:off x="849273" y="5627965"/>
            <a:ext cx="6168390" cy="1091446"/>
          </a:xfrm>
          <a:prstGeom prst="rect">
            <a:avLst/>
          </a:prstGeom>
          <a:noFill/>
          <a:ln/>
        </p:spPr>
        <p:txBody>
          <a:bodyPr wrap="square" lIns="0" tIns="0" rIns="0" bIns="0" rtlCol="0" anchor="t"/>
          <a:lstStyle/>
          <a:p>
            <a:pPr marL="342900" indent="-342900" algn="l">
              <a:lnSpc>
                <a:spcPts val="2500"/>
              </a:lnSpc>
              <a:buSzPct val="100000"/>
              <a:buChar char="•"/>
            </a:pPr>
            <a:r>
              <a:rPr lang="en-US" sz="1600" dirty="0">
                <a:solidFill>
                  <a:srgbClr val="272525"/>
                </a:solidFill>
                <a:latin typeface="Cambria Math" panose="02040503050406030204" pitchFamily="18" charset="0"/>
                <a:ea typeface="Cambria Math" panose="02040503050406030204" pitchFamily="18" charset="0"/>
                <a:cs typeface="Inter" pitchFamily="34" charset="-120"/>
              </a:rPr>
              <a:t>Word2Vec embeddings for semantic representation</a:t>
            </a:r>
            <a:endParaRPr lang="en-US" sz="1600" dirty="0">
              <a:latin typeface="Cambria Math" panose="02040503050406030204" pitchFamily="18" charset="0"/>
              <a:ea typeface="Cambria Math" panose="02040503050406030204" pitchFamily="18" charset="0"/>
            </a:endParaRPr>
          </a:p>
          <a:p>
            <a:pPr marL="342900" indent="-342900" algn="l">
              <a:lnSpc>
                <a:spcPts val="2500"/>
              </a:lnSpc>
              <a:buSzPct val="100000"/>
              <a:buChar char="•"/>
            </a:pPr>
            <a:r>
              <a:rPr lang="en-US" sz="1600" dirty="0">
                <a:solidFill>
                  <a:srgbClr val="272525"/>
                </a:solidFill>
                <a:latin typeface="Cambria Math" panose="02040503050406030204" pitchFamily="18" charset="0"/>
                <a:ea typeface="Cambria Math" panose="02040503050406030204" pitchFamily="18" charset="0"/>
                <a:cs typeface="Inter" pitchFamily="34" charset="-120"/>
              </a:rPr>
              <a:t>Fully connected layers: Dense → Dropout → Dense → Dense</a:t>
            </a:r>
            <a:endParaRPr lang="en-US" sz="1600" dirty="0">
              <a:latin typeface="Cambria Math" panose="02040503050406030204" pitchFamily="18" charset="0"/>
              <a:ea typeface="Cambria Math" panose="02040503050406030204" pitchFamily="18" charset="0"/>
            </a:endParaRPr>
          </a:p>
          <a:p>
            <a:pPr marL="342900" indent="-342900" algn="l">
              <a:lnSpc>
                <a:spcPts val="2500"/>
              </a:lnSpc>
              <a:buSzPct val="100000"/>
              <a:buChar char="•"/>
            </a:pPr>
            <a:r>
              <a:rPr lang="en-US" sz="1600" dirty="0">
                <a:solidFill>
                  <a:srgbClr val="272525"/>
                </a:solidFill>
                <a:latin typeface="Cambria Math" panose="02040503050406030204" pitchFamily="18" charset="0"/>
                <a:ea typeface="Cambria Math" panose="02040503050406030204" pitchFamily="18" charset="0"/>
                <a:cs typeface="Inter" pitchFamily="34" charset="-120"/>
              </a:rPr>
              <a:t>Binary classification output (Dark / Not Dark)</a:t>
            </a:r>
            <a:endParaRPr lang="en-US" sz="1600" dirty="0">
              <a:latin typeface="Cambria Math" panose="02040503050406030204" pitchFamily="18" charset="0"/>
              <a:ea typeface="Cambria Math" panose="02040503050406030204" pitchFamily="18" charset="0"/>
            </a:endParaRPr>
          </a:p>
        </p:txBody>
      </p:sp>
      <p:sp>
        <p:nvSpPr>
          <p:cNvPr id="10" name="Text 8"/>
          <p:cNvSpPr/>
          <p:nvPr/>
        </p:nvSpPr>
        <p:spPr>
          <a:xfrm>
            <a:off x="7564874" y="2470190"/>
            <a:ext cx="2480905" cy="310158"/>
          </a:xfrm>
          <a:prstGeom prst="rect">
            <a:avLst/>
          </a:prstGeom>
          <a:noFill/>
          <a:ln/>
        </p:spPr>
        <p:txBody>
          <a:bodyPr wrap="none" lIns="0" tIns="0" rIns="0" bIns="0" rtlCol="0" anchor="t"/>
          <a:lstStyle/>
          <a:p>
            <a:pPr marL="0" indent="0" algn="l">
              <a:lnSpc>
                <a:spcPts val="2400"/>
              </a:lnSpc>
              <a:buNone/>
            </a:pPr>
            <a:r>
              <a:rPr lang="en-US" sz="2000" b="1" dirty="0">
                <a:solidFill>
                  <a:srgbClr val="000000"/>
                </a:solidFill>
                <a:latin typeface="Cambria Math" panose="02040503050406030204" pitchFamily="18" charset="0"/>
                <a:ea typeface="Cambria Math" panose="02040503050406030204" pitchFamily="18" charset="0"/>
                <a:cs typeface="Inter Bold" pitchFamily="34" charset="-120"/>
              </a:rPr>
              <a:t>Image-Based Model</a:t>
            </a:r>
            <a:endParaRPr lang="en-US" sz="2000" dirty="0">
              <a:latin typeface="Cambria Math" panose="02040503050406030204" pitchFamily="18" charset="0"/>
              <a:ea typeface="Cambria Math" panose="02040503050406030204" pitchFamily="18" charset="0"/>
            </a:endParaRPr>
          </a:p>
        </p:txBody>
      </p:sp>
      <p:sp>
        <p:nvSpPr>
          <p:cNvPr id="11" name="Text 9"/>
          <p:cNvSpPr/>
          <p:nvPr/>
        </p:nvSpPr>
        <p:spPr>
          <a:xfrm>
            <a:off x="7564874" y="2978706"/>
            <a:ext cx="6279356" cy="317540"/>
          </a:xfrm>
          <a:prstGeom prst="rect">
            <a:avLst/>
          </a:prstGeom>
          <a:noFill/>
          <a:ln/>
        </p:spPr>
        <p:txBody>
          <a:bodyPr wrap="none" lIns="0" tIns="0" rIns="0" bIns="0" rtlCol="0" anchor="t"/>
          <a:lstStyle/>
          <a:p>
            <a:pPr marL="0" indent="0" algn="l">
              <a:lnSpc>
                <a:spcPts val="2500"/>
              </a:lnSpc>
              <a:buNone/>
            </a:pPr>
            <a:r>
              <a:rPr lang="en-US" sz="1550" b="1" dirty="0">
                <a:solidFill>
                  <a:srgbClr val="272525"/>
                </a:solidFill>
                <a:latin typeface="Cambria Math" panose="02040503050406030204" pitchFamily="18" charset="0"/>
                <a:ea typeface="Cambria Math" panose="02040503050406030204" pitchFamily="18" charset="0"/>
                <a:cs typeface="Inter" pitchFamily="34" charset="-120"/>
              </a:rPr>
              <a:t>Deepfake </a:t>
            </a:r>
            <a:r>
              <a:rPr lang="en-US" sz="1600" b="1" dirty="0">
                <a:solidFill>
                  <a:srgbClr val="272525"/>
                </a:solidFill>
                <a:latin typeface="Cambria Math" panose="02040503050406030204" pitchFamily="18" charset="0"/>
                <a:ea typeface="Cambria Math" panose="02040503050406030204" pitchFamily="18" charset="0"/>
                <a:cs typeface="Inter" pitchFamily="34" charset="-120"/>
              </a:rPr>
              <a:t>Detection</a:t>
            </a:r>
            <a:r>
              <a:rPr lang="en-US" sz="1550" b="1" dirty="0">
                <a:solidFill>
                  <a:srgbClr val="272525"/>
                </a:solidFill>
                <a:latin typeface="Cambria Math" panose="02040503050406030204" pitchFamily="18" charset="0"/>
                <a:ea typeface="Cambria Math" panose="02040503050406030204" pitchFamily="18" charset="0"/>
                <a:cs typeface="Inter" pitchFamily="34" charset="-120"/>
              </a:rPr>
              <a:t> with MobileNetV2</a:t>
            </a:r>
            <a:endParaRPr lang="en-US" sz="1550" dirty="0">
              <a:latin typeface="Cambria Math" panose="02040503050406030204" pitchFamily="18" charset="0"/>
              <a:ea typeface="Cambria Math" panose="02040503050406030204" pitchFamily="18" charset="0"/>
            </a:endParaRPr>
          </a:p>
        </p:txBody>
      </p:sp>
      <p:sp>
        <p:nvSpPr>
          <p:cNvPr id="12" name="Text 10"/>
          <p:cNvSpPr/>
          <p:nvPr/>
        </p:nvSpPr>
        <p:spPr>
          <a:xfrm>
            <a:off x="7564874" y="3474839"/>
            <a:ext cx="6279356" cy="1865352"/>
          </a:xfrm>
          <a:prstGeom prst="rect">
            <a:avLst/>
          </a:prstGeom>
          <a:noFill/>
          <a:ln/>
        </p:spPr>
        <p:txBody>
          <a:bodyPr wrap="square" lIns="0" tIns="0" rIns="0" bIns="0" rtlCol="0" anchor="t"/>
          <a:lstStyle/>
          <a:p>
            <a:pPr marL="342900" indent="-342900" algn="l">
              <a:lnSpc>
                <a:spcPts val="2500"/>
              </a:lnSpc>
              <a:buSzPct val="100000"/>
              <a:buChar char="•"/>
            </a:pPr>
            <a:r>
              <a:rPr lang="en-US" sz="1600" dirty="0">
                <a:solidFill>
                  <a:srgbClr val="272525"/>
                </a:solidFill>
                <a:latin typeface="Cambria Math" panose="02040503050406030204" pitchFamily="18" charset="0"/>
                <a:ea typeface="Cambria Math" panose="02040503050406030204" pitchFamily="18" charset="0"/>
                <a:cs typeface="Inter" pitchFamily="34" charset="-120"/>
              </a:rPr>
              <a:t>Transfer learning on ImageNet-pretrained MobileNetV2</a:t>
            </a:r>
            <a:endParaRPr lang="en-US" sz="1600" dirty="0">
              <a:latin typeface="Cambria Math" panose="02040503050406030204" pitchFamily="18" charset="0"/>
              <a:ea typeface="Cambria Math" panose="02040503050406030204" pitchFamily="18" charset="0"/>
            </a:endParaRPr>
          </a:p>
          <a:p>
            <a:pPr marL="342900" indent="-342900" algn="l">
              <a:lnSpc>
                <a:spcPts val="2500"/>
              </a:lnSpc>
              <a:buSzPct val="100000"/>
              <a:buChar char="•"/>
            </a:pPr>
            <a:r>
              <a:rPr lang="en-US" sz="1600" dirty="0">
                <a:solidFill>
                  <a:srgbClr val="272525"/>
                </a:solidFill>
                <a:latin typeface="Cambria Math" panose="02040503050406030204" pitchFamily="18" charset="0"/>
                <a:ea typeface="Cambria Math" panose="02040503050406030204" pitchFamily="18" charset="0"/>
                <a:cs typeface="Inter" pitchFamily="34" charset="-120"/>
              </a:rPr>
              <a:t>Input images resized to 224×224, pixel values normalized</a:t>
            </a:r>
            <a:endParaRPr lang="en-US" sz="1600" dirty="0">
              <a:latin typeface="Cambria Math" panose="02040503050406030204" pitchFamily="18" charset="0"/>
              <a:ea typeface="Cambria Math" panose="02040503050406030204" pitchFamily="18" charset="0"/>
            </a:endParaRPr>
          </a:p>
          <a:p>
            <a:pPr marL="342900" indent="-342900" algn="l">
              <a:lnSpc>
                <a:spcPts val="2500"/>
              </a:lnSpc>
              <a:buSzPct val="100000"/>
              <a:buChar char="•"/>
            </a:pPr>
            <a:r>
              <a:rPr lang="en-US" sz="1600" dirty="0">
                <a:solidFill>
                  <a:srgbClr val="272525"/>
                </a:solidFill>
                <a:latin typeface="Cambria Math" panose="02040503050406030204" pitchFamily="18" charset="0"/>
                <a:ea typeface="Cambria Math" panose="02040503050406030204" pitchFamily="18" charset="0"/>
                <a:cs typeface="Inter" pitchFamily="34" charset="-120"/>
              </a:rPr>
              <a:t>Global Average Pooling → Dense (128) → Dropout → Sigmoid</a:t>
            </a:r>
            <a:endParaRPr lang="en-US" sz="1600" dirty="0">
              <a:latin typeface="Cambria Math" panose="02040503050406030204" pitchFamily="18" charset="0"/>
              <a:ea typeface="Cambria Math" panose="02040503050406030204" pitchFamily="18" charset="0"/>
            </a:endParaRPr>
          </a:p>
          <a:p>
            <a:pPr marL="342900" indent="-342900" algn="l">
              <a:lnSpc>
                <a:spcPts val="2500"/>
              </a:lnSpc>
              <a:buSzPct val="100000"/>
              <a:buChar char="•"/>
            </a:pPr>
            <a:r>
              <a:rPr lang="en-US" sz="1600" dirty="0">
                <a:solidFill>
                  <a:srgbClr val="272525"/>
                </a:solidFill>
                <a:latin typeface="Cambria Math" panose="02040503050406030204" pitchFamily="18" charset="0"/>
                <a:ea typeface="Cambria Math" panose="02040503050406030204" pitchFamily="18" charset="0"/>
                <a:cs typeface="Inter" pitchFamily="34" charset="-120"/>
              </a:rPr>
              <a:t>Fine-tuning of final layers on CASIA dataset</a:t>
            </a:r>
            <a:endParaRPr lang="en-US" sz="1600" dirty="0">
              <a:latin typeface="Cambria Math" panose="02040503050406030204" pitchFamily="18" charset="0"/>
              <a:ea typeface="Cambria Math" panose="02040503050406030204" pitchFamily="18" charset="0"/>
            </a:endParaRPr>
          </a:p>
          <a:p>
            <a:pPr marL="342900" indent="-342900" algn="l">
              <a:lnSpc>
                <a:spcPts val="2500"/>
              </a:lnSpc>
              <a:buSzPct val="100000"/>
              <a:buChar char="•"/>
            </a:pPr>
            <a:r>
              <a:rPr lang="en-US" sz="1600" dirty="0">
                <a:solidFill>
                  <a:srgbClr val="272525"/>
                </a:solidFill>
                <a:latin typeface="Cambria Math" panose="02040503050406030204" pitchFamily="18" charset="0"/>
                <a:ea typeface="Cambria Math" panose="02040503050406030204" pitchFamily="18" charset="0"/>
                <a:cs typeface="Inter" pitchFamily="34" charset="-120"/>
              </a:rPr>
              <a:t>Output: probability score for Real vs. Fake</a:t>
            </a:r>
            <a:endParaRPr lang="en-US" sz="1600" dirty="0">
              <a:latin typeface="Cambria Math" panose="02040503050406030204" pitchFamily="18" charset="0"/>
              <a:ea typeface="Cambria Math" panose="02040503050406030204" pitchFamily="18" charset="0"/>
            </a:endParaRPr>
          </a:p>
        </p:txBody>
      </p:sp>
      <p:sp>
        <p:nvSpPr>
          <p:cNvPr id="13" name="Shape 11"/>
          <p:cNvSpPr/>
          <p:nvPr/>
        </p:nvSpPr>
        <p:spPr>
          <a:xfrm>
            <a:off x="7564874" y="5563433"/>
            <a:ext cx="6279356" cy="1478280"/>
          </a:xfrm>
          <a:prstGeom prst="roundRect">
            <a:avLst>
              <a:gd name="adj" fmla="val 5639"/>
            </a:avLst>
          </a:prstGeom>
          <a:solidFill>
            <a:srgbClr val="C7C9EA"/>
          </a:solidFill>
          <a:ln/>
        </p:spPr>
      </p:sp>
      <p:pic>
        <p:nvPicPr>
          <p:cNvPr id="14" name="Image 0" descr="preencoded.png"/>
          <p:cNvPicPr>
            <a:picLocks noChangeAspect="1"/>
          </p:cNvPicPr>
          <p:nvPr/>
        </p:nvPicPr>
        <p:blipFill>
          <a:blip r:embed="rId3"/>
          <a:stretch>
            <a:fillRect/>
          </a:stretch>
        </p:blipFill>
        <p:spPr>
          <a:xfrm>
            <a:off x="7763232" y="5866328"/>
            <a:ext cx="248007" cy="198358"/>
          </a:xfrm>
          <a:prstGeom prst="rect">
            <a:avLst/>
          </a:prstGeom>
        </p:spPr>
      </p:pic>
      <p:sp>
        <p:nvSpPr>
          <p:cNvPr id="15" name="Text 12"/>
          <p:cNvSpPr/>
          <p:nvPr/>
        </p:nvSpPr>
        <p:spPr>
          <a:xfrm>
            <a:off x="8209598" y="5811322"/>
            <a:ext cx="5436275"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Cambria Math" panose="02040503050406030204" pitchFamily="18" charset="0"/>
                <a:ea typeface="Cambria Math" panose="02040503050406030204" pitchFamily="18" charset="0"/>
                <a:cs typeface="Inter" pitchFamily="34" charset="-120"/>
              </a:rPr>
              <a:t>All three models are trained independently, then combined at inference time to produce the unified </a:t>
            </a:r>
            <a:r>
              <a:rPr lang="en-US" sz="1600" dirty="0">
                <a:solidFill>
                  <a:srgbClr val="000000"/>
                </a:solidFill>
                <a:latin typeface="Cambria Math" panose="02040503050406030204" pitchFamily="18" charset="0"/>
                <a:ea typeface="Cambria Math" panose="02040503050406030204" pitchFamily="18" charset="0"/>
                <a:cs typeface="Inter" pitchFamily="34" charset="-120"/>
              </a:rPr>
              <a:t>Integrity</a:t>
            </a:r>
            <a:r>
              <a:rPr lang="en-US" sz="1550" dirty="0">
                <a:solidFill>
                  <a:srgbClr val="000000"/>
                </a:solidFill>
                <a:latin typeface="Cambria Math" panose="02040503050406030204" pitchFamily="18" charset="0"/>
                <a:ea typeface="Cambria Math" panose="02040503050406030204" pitchFamily="18" charset="0"/>
                <a:cs typeface="Inter" pitchFamily="34" charset="-120"/>
              </a:rPr>
              <a:t> Score.</a:t>
            </a:r>
            <a:endParaRPr lang="en-US" sz="1550" dirty="0">
              <a:latin typeface="Cambria Math" panose="02040503050406030204" pitchFamily="18" charset="0"/>
              <a:ea typeface="Cambria Math" panose="02040503050406030204" pitchFamily="18" charset="0"/>
            </a:endParaRPr>
          </a:p>
        </p:txBody>
      </p:sp>
      <p:pic>
        <p:nvPicPr>
          <p:cNvPr id="17" name="Picture 16">
            <a:extLst>
              <a:ext uri="{FF2B5EF4-FFF2-40B4-BE49-F238E27FC236}">
                <a16:creationId xmlns:a16="http://schemas.microsoft.com/office/drawing/2014/main" id="{DD3C86D1-0F74-41F5-434D-B3B3D14A660E}"/>
              </a:ext>
            </a:extLst>
          </p:cNvPr>
          <p:cNvPicPr>
            <a:picLocks noChangeAspect="1"/>
          </p:cNvPicPr>
          <p:nvPr/>
        </p:nvPicPr>
        <p:blipFill>
          <a:blip r:embed="rId4"/>
          <a:stretch>
            <a:fillRect/>
          </a:stretch>
        </p:blipFill>
        <p:spPr>
          <a:xfrm>
            <a:off x="12290857" y="7736188"/>
            <a:ext cx="2339543" cy="39627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9917227-0347-123E-EDA0-1289214D91E6}"/>
              </a:ext>
            </a:extLst>
          </p:cNvPr>
          <p:cNvPicPr>
            <a:picLocks noChangeAspect="1"/>
          </p:cNvPicPr>
          <p:nvPr/>
        </p:nvPicPr>
        <p:blipFill>
          <a:blip r:embed="rId2"/>
          <a:stretch>
            <a:fillRect/>
          </a:stretch>
        </p:blipFill>
        <p:spPr>
          <a:xfrm>
            <a:off x="1269682" y="380999"/>
            <a:ext cx="11493818" cy="6656791"/>
          </a:xfrm>
          <a:prstGeom prst="rect">
            <a:avLst/>
          </a:prstGeom>
        </p:spPr>
      </p:pic>
      <p:pic>
        <p:nvPicPr>
          <p:cNvPr id="4" name="Picture 3">
            <a:extLst>
              <a:ext uri="{FF2B5EF4-FFF2-40B4-BE49-F238E27FC236}">
                <a16:creationId xmlns:a16="http://schemas.microsoft.com/office/drawing/2014/main" id="{D2CB7A89-DB85-1623-0012-DC0E55F172CD}"/>
              </a:ext>
            </a:extLst>
          </p:cNvPr>
          <p:cNvPicPr>
            <a:picLocks noChangeAspect="1"/>
          </p:cNvPicPr>
          <p:nvPr/>
        </p:nvPicPr>
        <p:blipFill>
          <a:blip r:embed="rId3"/>
          <a:stretch>
            <a:fillRect/>
          </a:stretch>
        </p:blipFill>
        <p:spPr>
          <a:xfrm>
            <a:off x="12222271" y="7593309"/>
            <a:ext cx="2408129" cy="510584"/>
          </a:xfrm>
          <a:prstGeom prst="rect">
            <a:avLst/>
          </a:prstGeom>
        </p:spPr>
      </p:pic>
    </p:spTree>
    <p:extLst>
      <p:ext uri="{BB962C8B-B14F-4D97-AF65-F5344CB8AC3E}">
        <p14:creationId xmlns:p14="http://schemas.microsoft.com/office/powerpoint/2010/main" val="939226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B872C7-29E1-CA0A-6EA4-EFAF5BE3D819}"/>
              </a:ext>
            </a:extLst>
          </p:cNvPr>
          <p:cNvPicPr>
            <a:picLocks noChangeAspect="1"/>
          </p:cNvPicPr>
          <p:nvPr/>
        </p:nvPicPr>
        <p:blipFill>
          <a:blip r:embed="rId2"/>
          <a:stretch>
            <a:fillRect/>
          </a:stretch>
        </p:blipFill>
        <p:spPr>
          <a:xfrm>
            <a:off x="12140460" y="7719016"/>
            <a:ext cx="2408129" cy="510584"/>
          </a:xfrm>
          <a:prstGeom prst="rect">
            <a:avLst/>
          </a:prstGeom>
        </p:spPr>
      </p:pic>
      <p:pic>
        <p:nvPicPr>
          <p:cNvPr id="4" name="Picture 3">
            <a:extLst>
              <a:ext uri="{FF2B5EF4-FFF2-40B4-BE49-F238E27FC236}">
                <a16:creationId xmlns:a16="http://schemas.microsoft.com/office/drawing/2014/main" id="{FC04DC36-F599-C849-DEC6-37605E82490D}"/>
              </a:ext>
            </a:extLst>
          </p:cNvPr>
          <p:cNvPicPr>
            <a:picLocks noChangeAspect="1"/>
          </p:cNvPicPr>
          <p:nvPr/>
        </p:nvPicPr>
        <p:blipFill>
          <a:blip r:embed="rId3"/>
          <a:stretch>
            <a:fillRect/>
          </a:stretch>
        </p:blipFill>
        <p:spPr>
          <a:xfrm>
            <a:off x="1210144" y="734967"/>
            <a:ext cx="12210112" cy="6513558"/>
          </a:xfrm>
          <a:prstGeom prst="rect">
            <a:avLst/>
          </a:prstGeom>
        </p:spPr>
      </p:pic>
      <p:pic>
        <p:nvPicPr>
          <p:cNvPr id="6" name="Picture 5">
            <a:extLst>
              <a:ext uri="{FF2B5EF4-FFF2-40B4-BE49-F238E27FC236}">
                <a16:creationId xmlns:a16="http://schemas.microsoft.com/office/drawing/2014/main" id="{08DF2B54-443C-4878-9AA6-563D9AB39081}"/>
              </a:ext>
            </a:extLst>
          </p:cNvPr>
          <p:cNvPicPr>
            <a:picLocks noChangeAspect="1"/>
          </p:cNvPicPr>
          <p:nvPr/>
        </p:nvPicPr>
        <p:blipFill>
          <a:blip r:embed="rId4"/>
          <a:stretch>
            <a:fillRect/>
          </a:stretch>
        </p:blipFill>
        <p:spPr>
          <a:xfrm>
            <a:off x="11210006" y="6648450"/>
            <a:ext cx="2080440" cy="441998"/>
          </a:xfrm>
          <a:prstGeom prst="rect">
            <a:avLst/>
          </a:prstGeom>
        </p:spPr>
      </p:pic>
    </p:spTree>
    <p:extLst>
      <p:ext uri="{BB962C8B-B14F-4D97-AF65-F5344CB8AC3E}">
        <p14:creationId xmlns:p14="http://schemas.microsoft.com/office/powerpoint/2010/main" val="1577771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0506208-9F7C-CEEC-68FF-9C9A8ED8CF6F}"/>
              </a:ext>
            </a:extLst>
          </p:cNvPr>
          <p:cNvPicPr>
            <a:picLocks noChangeAspect="1"/>
          </p:cNvPicPr>
          <p:nvPr/>
        </p:nvPicPr>
        <p:blipFill>
          <a:blip r:embed="rId2"/>
          <a:stretch>
            <a:fillRect/>
          </a:stretch>
        </p:blipFill>
        <p:spPr>
          <a:xfrm>
            <a:off x="12140460" y="7663749"/>
            <a:ext cx="2408129" cy="510584"/>
          </a:xfrm>
          <a:prstGeom prst="rect">
            <a:avLst/>
          </a:prstGeom>
        </p:spPr>
      </p:pic>
      <p:pic>
        <p:nvPicPr>
          <p:cNvPr id="4" name="Picture 3">
            <a:extLst>
              <a:ext uri="{FF2B5EF4-FFF2-40B4-BE49-F238E27FC236}">
                <a16:creationId xmlns:a16="http://schemas.microsoft.com/office/drawing/2014/main" id="{097FDD0D-7460-235A-A1FE-5D31F22D257F}"/>
              </a:ext>
            </a:extLst>
          </p:cNvPr>
          <p:cNvPicPr>
            <a:picLocks noChangeAspect="1"/>
          </p:cNvPicPr>
          <p:nvPr/>
        </p:nvPicPr>
        <p:blipFill>
          <a:blip r:embed="rId3"/>
          <a:stretch>
            <a:fillRect/>
          </a:stretch>
        </p:blipFill>
        <p:spPr>
          <a:xfrm>
            <a:off x="573478" y="290830"/>
            <a:ext cx="13483444" cy="7100570"/>
          </a:xfrm>
          <a:prstGeom prst="rect">
            <a:avLst/>
          </a:prstGeom>
        </p:spPr>
      </p:pic>
    </p:spTree>
    <p:extLst>
      <p:ext uri="{BB962C8B-B14F-4D97-AF65-F5344CB8AC3E}">
        <p14:creationId xmlns:p14="http://schemas.microsoft.com/office/powerpoint/2010/main" val="3731201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769382"/>
            <a:ext cx="2232779" cy="278963"/>
          </a:xfrm>
          <a:prstGeom prst="rect">
            <a:avLst/>
          </a:prstGeom>
          <a:noFill/>
          <a:ln/>
        </p:spPr>
        <p:txBody>
          <a:bodyPr wrap="none" lIns="0" tIns="0" rIns="0" bIns="0" rtlCol="0" anchor="t"/>
          <a:lstStyle/>
          <a:p>
            <a:pPr marL="0" indent="0" algn="l">
              <a:lnSpc>
                <a:spcPts val="2150"/>
              </a:lnSpc>
              <a:buNone/>
            </a:pPr>
            <a:r>
              <a:rPr lang="en-US" sz="2300" b="1" dirty="0">
                <a:solidFill>
                  <a:srgbClr val="000000"/>
                </a:solidFill>
                <a:latin typeface="Cambria Math" panose="02040503050406030204" pitchFamily="18" charset="0"/>
                <a:ea typeface="Cambria Math" panose="02040503050406030204" pitchFamily="18" charset="0"/>
                <a:cs typeface="Inter Bold" pitchFamily="34" charset="-120"/>
              </a:rPr>
              <a:t>Evaluation</a:t>
            </a:r>
            <a:endParaRPr lang="en-US" sz="2300" dirty="0">
              <a:latin typeface="Cambria Math" panose="02040503050406030204" pitchFamily="18" charset="0"/>
              <a:ea typeface="Cambria Math" panose="02040503050406030204" pitchFamily="18" charset="0"/>
            </a:endParaRPr>
          </a:p>
        </p:txBody>
      </p:sp>
      <p:sp>
        <p:nvSpPr>
          <p:cNvPr id="3" name="Text 1"/>
          <p:cNvSpPr/>
          <p:nvPr/>
        </p:nvSpPr>
        <p:spPr>
          <a:xfrm>
            <a:off x="793790" y="1112639"/>
            <a:ext cx="10024586" cy="558165"/>
          </a:xfrm>
          <a:prstGeom prst="rect">
            <a:avLst/>
          </a:prstGeom>
          <a:noFill/>
          <a:ln/>
        </p:spPr>
        <p:txBody>
          <a:bodyPr wrap="none" lIns="0" tIns="0" rIns="0" bIns="0" rtlCol="0" anchor="t"/>
          <a:lstStyle/>
          <a:p>
            <a:pPr marL="0" indent="0" algn="l">
              <a:lnSpc>
                <a:spcPts val="4350"/>
              </a:lnSpc>
              <a:buNone/>
            </a:pPr>
            <a:r>
              <a:rPr lang="en-US" sz="1700" b="1" dirty="0">
                <a:solidFill>
                  <a:srgbClr val="000000"/>
                </a:solidFill>
                <a:latin typeface="Cambria Math" panose="02040503050406030204" pitchFamily="18" charset="0"/>
                <a:ea typeface="Cambria Math" panose="02040503050406030204" pitchFamily="18" charset="0"/>
                <a:cs typeface="Inter Bold" pitchFamily="34" charset="-120"/>
              </a:rPr>
              <a:t>Performance Metrics &amp; Optimizer Comparison</a:t>
            </a:r>
            <a:endParaRPr lang="en-US" sz="1700" dirty="0">
              <a:latin typeface="Cambria Math" panose="02040503050406030204" pitchFamily="18" charset="0"/>
              <a:ea typeface="Cambria Math" panose="02040503050406030204" pitchFamily="18" charset="0"/>
            </a:endParaRPr>
          </a:p>
        </p:txBody>
      </p:sp>
      <p:sp>
        <p:nvSpPr>
          <p:cNvPr id="4" name="Text 2"/>
          <p:cNvSpPr/>
          <p:nvPr/>
        </p:nvSpPr>
        <p:spPr>
          <a:xfrm>
            <a:off x="793790" y="1911906"/>
            <a:ext cx="13042821" cy="271463"/>
          </a:xfrm>
          <a:prstGeom prst="rect">
            <a:avLst/>
          </a:prstGeom>
          <a:noFill/>
          <a:ln/>
        </p:spPr>
        <p:txBody>
          <a:bodyPr wrap="none" lIns="0" tIns="0" rIns="0" bIns="0" rtlCol="0" anchor="t"/>
          <a:lstStyle/>
          <a:p>
            <a:pPr marL="0" indent="0" algn="l">
              <a:lnSpc>
                <a:spcPts val="2100"/>
              </a:lnSpc>
              <a:buNone/>
            </a:pPr>
            <a:r>
              <a:rPr lang="en-US" sz="1700" dirty="0">
                <a:solidFill>
                  <a:srgbClr val="272525"/>
                </a:solidFill>
                <a:latin typeface="Cambria Math" panose="02040503050406030204" pitchFamily="18" charset="0"/>
                <a:ea typeface="Cambria Math" panose="02040503050406030204" pitchFamily="18" charset="0"/>
                <a:cs typeface="Inter" pitchFamily="34" charset="-120"/>
              </a:rPr>
              <a:t>Each model is rigorously evaluated using a comprehensive suite of metrics to ensure reliability and generalizability across real-world content.</a:t>
            </a:r>
            <a:endParaRPr lang="en-US" sz="1700" dirty="0">
              <a:latin typeface="Cambria Math" panose="02040503050406030204" pitchFamily="18" charset="0"/>
              <a:ea typeface="Cambria Math" panose="02040503050406030204" pitchFamily="18" charset="0"/>
            </a:endParaRPr>
          </a:p>
        </p:txBody>
      </p:sp>
      <p:sp>
        <p:nvSpPr>
          <p:cNvPr id="5" name="Shape 3"/>
          <p:cNvSpPr/>
          <p:nvPr/>
        </p:nvSpPr>
        <p:spPr>
          <a:xfrm>
            <a:off x="665202" y="2364224"/>
            <a:ext cx="7234595" cy="5095875"/>
          </a:xfrm>
          <a:prstGeom prst="roundRect">
            <a:avLst>
              <a:gd name="adj" fmla="val 2524"/>
            </a:avLst>
          </a:prstGeom>
          <a:solidFill>
            <a:srgbClr val="FFFFFF"/>
          </a:solidFill>
          <a:ln/>
        </p:spPr>
      </p:sp>
      <p:sp>
        <p:nvSpPr>
          <p:cNvPr id="6" name="Shape 4"/>
          <p:cNvSpPr/>
          <p:nvPr/>
        </p:nvSpPr>
        <p:spPr>
          <a:xfrm>
            <a:off x="843796" y="2545080"/>
            <a:ext cx="3358277" cy="2051566"/>
          </a:xfrm>
          <a:prstGeom prst="roundRect">
            <a:avLst>
              <a:gd name="adj" fmla="val 3657"/>
            </a:avLst>
          </a:prstGeom>
          <a:solidFill>
            <a:srgbClr val="DADBF1"/>
          </a:solidFill>
          <a:ln w="7620">
            <a:solidFill>
              <a:srgbClr val="C0C1D7"/>
            </a:solidFill>
            <a:prstDash val="solid"/>
          </a:ln>
        </p:spPr>
      </p:sp>
      <p:sp>
        <p:nvSpPr>
          <p:cNvPr id="7" name="Shape 5"/>
          <p:cNvSpPr/>
          <p:nvPr/>
        </p:nvSpPr>
        <p:spPr>
          <a:xfrm>
            <a:off x="1030010" y="2731294"/>
            <a:ext cx="535781" cy="535781"/>
          </a:xfrm>
          <a:prstGeom prst="roundRect">
            <a:avLst>
              <a:gd name="adj" fmla="val 17064968"/>
            </a:avLst>
          </a:prstGeom>
          <a:solidFill>
            <a:srgbClr val="4950BC"/>
          </a:solidFill>
          <a:ln/>
        </p:spPr>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7290" y="2878574"/>
            <a:ext cx="241102" cy="241102"/>
          </a:xfrm>
          <a:prstGeom prst="rect">
            <a:avLst/>
          </a:prstGeom>
        </p:spPr>
      </p:pic>
      <p:sp>
        <p:nvSpPr>
          <p:cNvPr id="9" name="Text 6"/>
          <p:cNvSpPr/>
          <p:nvPr/>
        </p:nvSpPr>
        <p:spPr>
          <a:xfrm>
            <a:off x="1030010" y="3427809"/>
            <a:ext cx="2232779" cy="278963"/>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Cambria Math" panose="02040503050406030204" pitchFamily="18" charset="0"/>
                <a:ea typeface="Cambria Math" panose="02040503050406030204" pitchFamily="18" charset="0"/>
                <a:cs typeface="Inter Bold" pitchFamily="34" charset="-120"/>
              </a:rPr>
              <a:t>Accuracy</a:t>
            </a:r>
            <a:endParaRPr lang="en-US" sz="1700" dirty="0">
              <a:latin typeface="Cambria Math" panose="02040503050406030204" pitchFamily="18" charset="0"/>
              <a:ea typeface="Cambria Math" panose="02040503050406030204" pitchFamily="18" charset="0"/>
            </a:endParaRPr>
          </a:p>
        </p:txBody>
      </p:sp>
      <p:sp>
        <p:nvSpPr>
          <p:cNvPr id="10" name="Text 7"/>
          <p:cNvSpPr/>
          <p:nvPr/>
        </p:nvSpPr>
        <p:spPr>
          <a:xfrm>
            <a:off x="1030010" y="3867507"/>
            <a:ext cx="2985849" cy="542925"/>
          </a:xfrm>
          <a:prstGeom prst="rect">
            <a:avLst/>
          </a:prstGeom>
          <a:noFill/>
          <a:ln/>
        </p:spPr>
        <p:txBody>
          <a:bodyPr wrap="square" lIns="0" tIns="0" rIns="0" bIns="0" rtlCol="0" anchor="t"/>
          <a:lstStyle/>
          <a:p>
            <a:pPr marL="342900" indent="-342900" algn="l">
              <a:lnSpc>
                <a:spcPts val="2100"/>
              </a:lnSpc>
              <a:buSzPct val="100000"/>
              <a:buChar char="•"/>
            </a:pPr>
            <a:r>
              <a:rPr lang="en-US" sz="1700" dirty="0">
                <a:solidFill>
                  <a:srgbClr val="272525"/>
                </a:solidFill>
                <a:latin typeface="Cambria Math" panose="02040503050406030204" pitchFamily="18" charset="0"/>
                <a:ea typeface="Cambria Math" panose="02040503050406030204" pitchFamily="18" charset="0"/>
                <a:cs typeface="Inter" pitchFamily="34" charset="-120"/>
              </a:rPr>
              <a:t>Overall correct prediction rate across all classes.</a:t>
            </a:r>
            <a:endParaRPr lang="en-US" sz="1700" dirty="0">
              <a:latin typeface="Cambria Math" panose="02040503050406030204" pitchFamily="18" charset="0"/>
              <a:ea typeface="Cambria Math" panose="02040503050406030204" pitchFamily="18" charset="0"/>
            </a:endParaRPr>
          </a:p>
        </p:txBody>
      </p:sp>
      <p:sp>
        <p:nvSpPr>
          <p:cNvPr id="11" name="Shape 8"/>
          <p:cNvSpPr/>
          <p:nvPr/>
        </p:nvSpPr>
        <p:spPr>
          <a:xfrm>
            <a:off x="4362807" y="2545080"/>
            <a:ext cx="3358396" cy="2051566"/>
          </a:xfrm>
          <a:prstGeom prst="roundRect">
            <a:avLst>
              <a:gd name="adj" fmla="val 3657"/>
            </a:avLst>
          </a:prstGeom>
          <a:solidFill>
            <a:srgbClr val="DADBF1"/>
          </a:solidFill>
          <a:ln w="7620">
            <a:solidFill>
              <a:srgbClr val="C0C1D7"/>
            </a:solidFill>
            <a:prstDash val="solid"/>
          </a:ln>
        </p:spPr>
      </p:sp>
      <p:sp>
        <p:nvSpPr>
          <p:cNvPr id="12" name="Shape 9"/>
          <p:cNvSpPr/>
          <p:nvPr/>
        </p:nvSpPr>
        <p:spPr>
          <a:xfrm>
            <a:off x="4549021" y="2731294"/>
            <a:ext cx="535781" cy="535781"/>
          </a:xfrm>
          <a:prstGeom prst="roundRect">
            <a:avLst>
              <a:gd name="adj" fmla="val 17064968"/>
            </a:avLst>
          </a:prstGeom>
          <a:solidFill>
            <a:srgbClr val="4950BC"/>
          </a:solidFill>
          <a:ln/>
        </p:spPr>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96301" y="2878574"/>
            <a:ext cx="241102" cy="241102"/>
          </a:xfrm>
          <a:prstGeom prst="rect">
            <a:avLst/>
          </a:prstGeom>
        </p:spPr>
      </p:pic>
      <p:sp>
        <p:nvSpPr>
          <p:cNvPr id="14" name="Text 10"/>
          <p:cNvSpPr/>
          <p:nvPr/>
        </p:nvSpPr>
        <p:spPr>
          <a:xfrm>
            <a:off x="4549021" y="3427809"/>
            <a:ext cx="2232779" cy="278963"/>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Cambria Math" panose="02040503050406030204" pitchFamily="18" charset="0"/>
                <a:ea typeface="Cambria Math" panose="02040503050406030204" pitchFamily="18" charset="0"/>
                <a:cs typeface="Inter Bold" pitchFamily="34" charset="-120"/>
              </a:rPr>
              <a:t>Precision</a:t>
            </a:r>
            <a:endParaRPr lang="en-US" sz="1700" dirty="0">
              <a:latin typeface="Cambria Math" panose="02040503050406030204" pitchFamily="18" charset="0"/>
              <a:ea typeface="Cambria Math" panose="02040503050406030204" pitchFamily="18" charset="0"/>
            </a:endParaRPr>
          </a:p>
        </p:txBody>
      </p:sp>
      <p:sp>
        <p:nvSpPr>
          <p:cNvPr id="15" name="Text 11"/>
          <p:cNvSpPr/>
          <p:nvPr/>
        </p:nvSpPr>
        <p:spPr>
          <a:xfrm>
            <a:off x="4549021" y="3867507"/>
            <a:ext cx="2985968" cy="542925"/>
          </a:xfrm>
          <a:prstGeom prst="rect">
            <a:avLst/>
          </a:prstGeom>
          <a:noFill/>
          <a:ln/>
        </p:spPr>
        <p:txBody>
          <a:bodyPr wrap="square" lIns="0" tIns="0" rIns="0" bIns="0" rtlCol="0" anchor="t"/>
          <a:lstStyle/>
          <a:p>
            <a:pPr marL="342900" indent="-342900" algn="l">
              <a:lnSpc>
                <a:spcPts val="2100"/>
              </a:lnSpc>
              <a:buSzPct val="100000"/>
              <a:buChar char="•"/>
            </a:pPr>
            <a:r>
              <a:rPr lang="en-US" sz="1700" dirty="0">
                <a:solidFill>
                  <a:srgbClr val="272525"/>
                </a:solidFill>
                <a:latin typeface="Cambria Math" panose="02040503050406030204" pitchFamily="18" charset="0"/>
                <a:ea typeface="Cambria Math" panose="02040503050406030204" pitchFamily="18" charset="0"/>
                <a:cs typeface="Inter" pitchFamily="34" charset="-120"/>
              </a:rPr>
              <a:t>Fraction of predicted positives that are truly positive.</a:t>
            </a:r>
            <a:endParaRPr lang="en-US" sz="1700" dirty="0">
              <a:latin typeface="Cambria Math" panose="02040503050406030204" pitchFamily="18" charset="0"/>
              <a:ea typeface="Cambria Math" panose="02040503050406030204" pitchFamily="18" charset="0"/>
            </a:endParaRPr>
          </a:p>
        </p:txBody>
      </p:sp>
      <p:sp>
        <p:nvSpPr>
          <p:cNvPr id="16" name="Shape 12"/>
          <p:cNvSpPr/>
          <p:nvPr/>
        </p:nvSpPr>
        <p:spPr>
          <a:xfrm>
            <a:off x="843796" y="4757380"/>
            <a:ext cx="3358277" cy="2323028"/>
          </a:xfrm>
          <a:prstGeom prst="roundRect">
            <a:avLst>
              <a:gd name="adj" fmla="val 3230"/>
            </a:avLst>
          </a:prstGeom>
          <a:solidFill>
            <a:srgbClr val="DADBF1"/>
          </a:solidFill>
          <a:ln w="7620">
            <a:solidFill>
              <a:srgbClr val="C0C1D7"/>
            </a:solidFill>
            <a:prstDash val="solid"/>
          </a:ln>
        </p:spPr>
      </p:sp>
      <p:sp>
        <p:nvSpPr>
          <p:cNvPr id="17" name="Shape 13"/>
          <p:cNvSpPr/>
          <p:nvPr/>
        </p:nvSpPr>
        <p:spPr>
          <a:xfrm>
            <a:off x="1030010" y="4943594"/>
            <a:ext cx="535781" cy="535781"/>
          </a:xfrm>
          <a:prstGeom prst="roundRect">
            <a:avLst>
              <a:gd name="adj" fmla="val 17064968"/>
            </a:avLst>
          </a:prstGeom>
          <a:solidFill>
            <a:srgbClr val="4950BC"/>
          </a:solidFill>
          <a:ln/>
        </p:spPr>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77290" y="5090874"/>
            <a:ext cx="241102" cy="241102"/>
          </a:xfrm>
          <a:prstGeom prst="rect">
            <a:avLst/>
          </a:prstGeom>
        </p:spPr>
      </p:pic>
      <p:sp>
        <p:nvSpPr>
          <p:cNvPr id="19" name="Text 14"/>
          <p:cNvSpPr/>
          <p:nvPr/>
        </p:nvSpPr>
        <p:spPr>
          <a:xfrm>
            <a:off x="1030010" y="5640110"/>
            <a:ext cx="2232779" cy="278963"/>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Cambria Math" panose="02040503050406030204" pitchFamily="18" charset="0"/>
                <a:ea typeface="Cambria Math" panose="02040503050406030204" pitchFamily="18" charset="0"/>
                <a:cs typeface="Inter Bold" pitchFamily="34" charset="-120"/>
              </a:rPr>
              <a:t>Recall</a:t>
            </a:r>
            <a:endParaRPr lang="en-US" sz="1700" dirty="0">
              <a:latin typeface="Cambria Math" panose="02040503050406030204" pitchFamily="18" charset="0"/>
              <a:ea typeface="Cambria Math" panose="02040503050406030204" pitchFamily="18" charset="0"/>
            </a:endParaRPr>
          </a:p>
        </p:txBody>
      </p:sp>
      <p:sp>
        <p:nvSpPr>
          <p:cNvPr id="20" name="Text 15"/>
          <p:cNvSpPr/>
          <p:nvPr/>
        </p:nvSpPr>
        <p:spPr>
          <a:xfrm>
            <a:off x="1030010" y="6079808"/>
            <a:ext cx="2985849" cy="542925"/>
          </a:xfrm>
          <a:prstGeom prst="rect">
            <a:avLst/>
          </a:prstGeom>
          <a:noFill/>
          <a:ln/>
        </p:spPr>
        <p:txBody>
          <a:bodyPr wrap="square" lIns="0" tIns="0" rIns="0" bIns="0" rtlCol="0" anchor="t"/>
          <a:lstStyle/>
          <a:p>
            <a:pPr marL="342900" indent="-342900" algn="l">
              <a:lnSpc>
                <a:spcPts val="2100"/>
              </a:lnSpc>
              <a:buSzPct val="100000"/>
              <a:buChar char="•"/>
            </a:pPr>
            <a:r>
              <a:rPr lang="en-US" sz="1700" dirty="0">
                <a:solidFill>
                  <a:srgbClr val="272525"/>
                </a:solidFill>
                <a:latin typeface="Cambria Math" panose="02040503050406030204" pitchFamily="18" charset="0"/>
                <a:ea typeface="Cambria Math" panose="02040503050406030204" pitchFamily="18" charset="0"/>
                <a:cs typeface="Inter" pitchFamily="34" charset="-120"/>
              </a:rPr>
              <a:t>Fraction of actual positives correctly identified.</a:t>
            </a:r>
            <a:endParaRPr lang="en-US" sz="1700" dirty="0">
              <a:latin typeface="Cambria Math" panose="02040503050406030204" pitchFamily="18" charset="0"/>
              <a:ea typeface="Cambria Math" panose="02040503050406030204" pitchFamily="18" charset="0"/>
            </a:endParaRPr>
          </a:p>
        </p:txBody>
      </p:sp>
      <p:sp>
        <p:nvSpPr>
          <p:cNvPr id="21" name="Shape 16"/>
          <p:cNvSpPr/>
          <p:nvPr/>
        </p:nvSpPr>
        <p:spPr>
          <a:xfrm>
            <a:off x="4362807" y="4757380"/>
            <a:ext cx="3358396" cy="2323028"/>
          </a:xfrm>
          <a:prstGeom prst="roundRect">
            <a:avLst>
              <a:gd name="adj" fmla="val 3230"/>
            </a:avLst>
          </a:prstGeom>
          <a:solidFill>
            <a:srgbClr val="DADBF1"/>
          </a:solidFill>
          <a:ln w="7620">
            <a:solidFill>
              <a:srgbClr val="C0C1D7"/>
            </a:solidFill>
            <a:prstDash val="solid"/>
          </a:ln>
        </p:spPr>
      </p:sp>
      <p:sp>
        <p:nvSpPr>
          <p:cNvPr id="22" name="Shape 17"/>
          <p:cNvSpPr/>
          <p:nvPr/>
        </p:nvSpPr>
        <p:spPr>
          <a:xfrm>
            <a:off x="4549021" y="4943594"/>
            <a:ext cx="535781" cy="535781"/>
          </a:xfrm>
          <a:prstGeom prst="roundRect">
            <a:avLst>
              <a:gd name="adj" fmla="val 17064968"/>
            </a:avLst>
          </a:prstGeom>
          <a:solidFill>
            <a:srgbClr val="4950BC"/>
          </a:solidFill>
          <a:ln/>
        </p:spPr>
      </p:sp>
      <p:pic>
        <p:nvPicPr>
          <p:cNvPr id="2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96301" y="5090874"/>
            <a:ext cx="241102" cy="241102"/>
          </a:xfrm>
          <a:prstGeom prst="rect">
            <a:avLst/>
          </a:prstGeom>
        </p:spPr>
      </p:pic>
      <p:sp>
        <p:nvSpPr>
          <p:cNvPr id="24" name="Text 18"/>
          <p:cNvSpPr/>
          <p:nvPr/>
        </p:nvSpPr>
        <p:spPr>
          <a:xfrm>
            <a:off x="4549021" y="5640110"/>
            <a:ext cx="2232779" cy="278963"/>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Cambria Math" panose="02040503050406030204" pitchFamily="18" charset="0"/>
                <a:ea typeface="Cambria Math" panose="02040503050406030204" pitchFamily="18" charset="0"/>
                <a:cs typeface="Inter Bold" pitchFamily="34" charset="-120"/>
              </a:rPr>
              <a:t>F1 Score</a:t>
            </a:r>
            <a:endParaRPr lang="en-US" sz="1700" dirty="0">
              <a:latin typeface="Cambria Math" panose="02040503050406030204" pitchFamily="18" charset="0"/>
              <a:ea typeface="Cambria Math" panose="02040503050406030204" pitchFamily="18" charset="0"/>
            </a:endParaRPr>
          </a:p>
        </p:txBody>
      </p:sp>
      <p:sp>
        <p:nvSpPr>
          <p:cNvPr id="25" name="Text 19"/>
          <p:cNvSpPr/>
          <p:nvPr/>
        </p:nvSpPr>
        <p:spPr>
          <a:xfrm>
            <a:off x="4549021" y="6079808"/>
            <a:ext cx="2985968" cy="814388"/>
          </a:xfrm>
          <a:prstGeom prst="rect">
            <a:avLst/>
          </a:prstGeom>
          <a:noFill/>
          <a:ln/>
        </p:spPr>
        <p:txBody>
          <a:bodyPr wrap="square" lIns="0" tIns="0" rIns="0" bIns="0" rtlCol="0" anchor="t"/>
          <a:lstStyle/>
          <a:p>
            <a:pPr marL="342900" indent="-342900" algn="l">
              <a:lnSpc>
                <a:spcPts val="2100"/>
              </a:lnSpc>
              <a:buSzPct val="100000"/>
              <a:buChar char="•"/>
            </a:pPr>
            <a:r>
              <a:rPr lang="en-US" sz="1700" dirty="0">
                <a:solidFill>
                  <a:srgbClr val="272525"/>
                </a:solidFill>
                <a:latin typeface="Cambria Math" panose="02040503050406030204" pitchFamily="18" charset="0"/>
                <a:ea typeface="Cambria Math" panose="02040503050406030204" pitchFamily="18" charset="0"/>
                <a:cs typeface="Inter" pitchFamily="34" charset="-120"/>
              </a:rPr>
              <a:t>Harmonic mean of precision and recall; key for imbalanced data.</a:t>
            </a:r>
            <a:endParaRPr lang="en-US" sz="1700" dirty="0">
              <a:latin typeface="Cambria Math" panose="02040503050406030204" pitchFamily="18" charset="0"/>
              <a:ea typeface="Cambria Math" panose="02040503050406030204" pitchFamily="18" charset="0"/>
            </a:endParaRPr>
          </a:p>
        </p:txBody>
      </p:sp>
      <p:sp>
        <p:nvSpPr>
          <p:cNvPr id="26" name="Text 20"/>
          <p:cNvSpPr/>
          <p:nvPr/>
        </p:nvSpPr>
        <p:spPr>
          <a:xfrm>
            <a:off x="8214598" y="2524958"/>
            <a:ext cx="2451021" cy="278963"/>
          </a:xfrm>
          <a:prstGeom prst="rect">
            <a:avLst/>
          </a:prstGeom>
          <a:noFill/>
          <a:ln/>
        </p:spPr>
        <p:txBody>
          <a:bodyPr wrap="none" lIns="0" tIns="0" rIns="0" bIns="0" rtlCol="0" anchor="t"/>
          <a:lstStyle/>
          <a:p>
            <a:pPr marL="0" indent="0" algn="l">
              <a:lnSpc>
                <a:spcPts val="2150"/>
              </a:lnSpc>
              <a:buNone/>
            </a:pPr>
            <a:r>
              <a:rPr lang="en-US" sz="1700" b="1" dirty="0">
                <a:solidFill>
                  <a:srgbClr val="000000"/>
                </a:solidFill>
                <a:latin typeface="Cambria Math" panose="02040503050406030204" pitchFamily="18" charset="0"/>
                <a:ea typeface="Cambria Math" panose="02040503050406030204" pitchFamily="18" charset="0"/>
                <a:cs typeface="Inter Bold" pitchFamily="34" charset="-120"/>
              </a:rPr>
              <a:t>Optimizer Comparison</a:t>
            </a:r>
            <a:endParaRPr lang="en-US" sz="1700" dirty="0">
              <a:latin typeface="Cambria Math" panose="02040503050406030204" pitchFamily="18" charset="0"/>
              <a:ea typeface="Cambria Math" panose="02040503050406030204" pitchFamily="18" charset="0"/>
            </a:endParaRPr>
          </a:p>
        </p:txBody>
      </p:sp>
      <p:sp>
        <p:nvSpPr>
          <p:cNvPr id="27" name="Text 21"/>
          <p:cNvSpPr/>
          <p:nvPr/>
        </p:nvSpPr>
        <p:spPr>
          <a:xfrm>
            <a:off x="8214598" y="2964656"/>
            <a:ext cx="5629513" cy="542925"/>
          </a:xfrm>
          <a:prstGeom prst="rect">
            <a:avLst/>
          </a:prstGeom>
          <a:noFill/>
          <a:ln/>
        </p:spPr>
        <p:txBody>
          <a:bodyPr wrap="square" lIns="0" tIns="0" rIns="0" bIns="0" rtlCol="0" anchor="t"/>
          <a:lstStyle/>
          <a:p>
            <a:pPr marL="0" indent="0" algn="l">
              <a:lnSpc>
                <a:spcPts val="2100"/>
              </a:lnSpc>
              <a:buNone/>
            </a:pPr>
            <a:r>
              <a:rPr lang="en-US" sz="1700" dirty="0">
                <a:solidFill>
                  <a:srgbClr val="272525"/>
                </a:solidFill>
                <a:latin typeface="Cambria Math" panose="02040503050406030204" pitchFamily="18" charset="0"/>
                <a:ea typeface="Cambria Math" panose="02040503050406030204" pitchFamily="18" charset="0"/>
                <a:cs typeface="Inter" pitchFamily="34" charset="-120"/>
              </a:rPr>
              <a:t>Three gradient descent optimizers were benchmarked to identify the best convergence behavior for each model type:</a:t>
            </a:r>
            <a:endParaRPr lang="en-US" sz="1700" dirty="0">
              <a:latin typeface="Cambria Math" panose="02040503050406030204" pitchFamily="18" charset="0"/>
              <a:ea typeface="Cambria Math" panose="02040503050406030204" pitchFamily="18" charset="0"/>
            </a:endParaRPr>
          </a:p>
        </p:txBody>
      </p:sp>
      <p:pic>
        <p:nvPicPr>
          <p:cNvPr id="2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281511" y="3693974"/>
            <a:ext cx="267891" cy="267891"/>
          </a:xfrm>
          <a:prstGeom prst="rect">
            <a:avLst/>
          </a:prstGeom>
        </p:spPr>
      </p:pic>
      <p:sp>
        <p:nvSpPr>
          <p:cNvPr id="29" name="Text 22"/>
          <p:cNvSpPr/>
          <p:nvPr/>
        </p:nvSpPr>
        <p:spPr>
          <a:xfrm>
            <a:off x="8795028" y="3688437"/>
            <a:ext cx="2232779" cy="278963"/>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Cambria Math" panose="02040503050406030204" pitchFamily="18" charset="0"/>
                <a:ea typeface="Cambria Math" panose="02040503050406030204" pitchFamily="18" charset="0"/>
                <a:cs typeface="Inter Bold" pitchFamily="34" charset="-120"/>
              </a:rPr>
              <a:t>Adam</a:t>
            </a:r>
            <a:endParaRPr lang="en-US" sz="1700" dirty="0">
              <a:latin typeface="Cambria Math" panose="02040503050406030204" pitchFamily="18" charset="0"/>
              <a:ea typeface="Cambria Math" panose="02040503050406030204" pitchFamily="18" charset="0"/>
            </a:endParaRPr>
          </a:p>
        </p:txBody>
      </p:sp>
      <p:sp>
        <p:nvSpPr>
          <p:cNvPr id="30" name="Text 23"/>
          <p:cNvSpPr/>
          <p:nvPr/>
        </p:nvSpPr>
        <p:spPr>
          <a:xfrm>
            <a:off x="8795028" y="4128135"/>
            <a:ext cx="5049083" cy="542925"/>
          </a:xfrm>
          <a:prstGeom prst="rect">
            <a:avLst/>
          </a:prstGeom>
          <a:noFill/>
          <a:ln/>
        </p:spPr>
        <p:txBody>
          <a:bodyPr wrap="square" lIns="0" tIns="0" rIns="0" bIns="0" rtlCol="0" anchor="t"/>
          <a:lstStyle/>
          <a:p>
            <a:pPr marL="0" indent="0" algn="l">
              <a:lnSpc>
                <a:spcPts val="2100"/>
              </a:lnSpc>
              <a:buNone/>
            </a:pPr>
            <a:r>
              <a:rPr lang="en-US" sz="1700" b="1" dirty="0">
                <a:solidFill>
                  <a:srgbClr val="272525"/>
                </a:solidFill>
                <a:latin typeface="Cambria Math" panose="02040503050406030204" pitchFamily="18" charset="0"/>
                <a:ea typeface="Cambria Math" panose="02040503050406030204" pitchFamily="18" charset="0"/>
                <a:cs typeface="Inter" pitchFamily="34" charset="-120"/>
              </a:rPr>
              <a:t>Adaptive learning rate</a:t>
            </a:r>
            <a:r>
              <a:rPr lang="en-US" sz="1700" dirty="0">
                <a:solidFill>
                  <a:srgbClr val="272525"/>
                </a:solidFill>
                <a:latin typeface="Cambria Math" panose="02040503050406030204" pitchFamily="18" charset="0"/>
                <a:ea typeface="Cambria Math" panose="02040503050406030204" pitchFamily="18" charset="0"/>
                <a:cs typeface="Inter" pitchFamily="34" charset="-120"/>
              </a:rPr>
              <a:t>; fastest convergence and a strong default baseline.</a:t>
            </a:r>
            <a:endParaRPr lang="en-US" sz="1700" dirty="0">
              <a:latin typeface="Cambria Math" panose="02040503050406030204" pitchFamily="18" charset="0"/>
              <a:ea typeface="Cambria Math" panose="02040503050406030204" pitchFamily="18" charset="0"/>
            </a:endParaRPr>
          </a:p>
        </p:txBody>
      </p:sp>
      <p:pic>
        <p:nvPicPr>
          <p:cNvPr id="31" name="Image 5"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281511" y="4998065"/>
            <a:ext cx="267891" cy="267891"/>
          </a:xfrm>
          <a:prstGeom prst="rect">
            <a:avLst/>
          </a:prstGeom>
        </p:spPr>
      </p:pic>
      <p:sp>
        <p:nvSpPr>
          <p:cNvPr id="32" name="Text 24"/>
          <p:cNvSpPr/>
          <p:nvPr/>
        </p:nvSpPr>
        <p:spPr>
          <a:xfrm>
            <a:off x="8795028" y="4992529"/>
            <a:ext cx="2232779" cy="278963"/>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Cambria Math" panose="02040503050406030204" pitchFamily="18" charset="0"/>
                <a:ea typeface="Cambria Math" panose="02040503050406030204" pitchFamily="18" charset="0"/>
                <a:cs typeface="Inter Bold" pitchFamily="34" charset="-120"/>
              </a:rPr>
              <a:t>SGD</a:t>
            </a:r>
            <a:endParaRPr lang="en-US" sz="1700" dirty="0">
              <a:latin typeface="Cambria Math" panose="02040503050406030204" pitchFamily="18" charset="0"/>
              <a:ea typeface="Cambria Math" panose="02040503050406030204" pitchFamily="18" charset="0"/>
            </a:endParaRPr>
          </a:p>
        </p:txBody>
      </p:sp>
      <p:sp>
        <p:nvSpPr>
          <p:cNvPr id="33" name="Text 25"/>
          <p:cNvSpPr/>
          <p:nvPr/>
        </p:nvSpPr>
        <p:spPr>
          <a:xfrm>
            <a:off x="8795028" y="5432227"/>
            <a:ext cx="5049083" cy="542925"/>
          </a:xfrm>
          <a:prstGeom prst="rect">
            <a:avLst/>
          </a:prstGeom>
          <a:noFill/>
          <a:ln/>
        </p:spPr>
        <p:txBody>
          <a:bodyPr wrap="square" lIns="0" tIns="0" rIns="0" bIns="0" rtlCol="0" anchor="t"/>
          <a:lstStyle/>
          <a:p>
            <a:pPr marL="0" indent="0" algn="l">
              <a:lnSpc>
                <a:spcPts val="2100"/>
              </a:lnSpc>
              <a:buNone/>
            </a:pPr>
            <a:r>
              <a:rPr lang="en-US" sz="1700" dirty="0">
                <a:solidFill>
                  <a:srgbClr val="272525"/>
                </a:solidFill>
                <a:latin typeface="Cambria Math" panose="02040503050406030204" pitchFamily="18" charset="0"/>
                <a:ea typeface="Cambria Math" panose="02040503050406030204" pitchFamily="18" charset="0"/>
                <a:cs typeface="Inter" pitchFamily="34" charset="-120"/>
              </a:rPr>
              <a:t>Slower convergence, </a:t>
            </a:r>
            <a:r>
              <a:rPr lang="en-US" sz="1700" b="1" dirty="0">
                <a:solidFill>
                  <a:srgbClr val="272525"/>
                </a:solidFill>
                <a:latin typeface="Cambria Math" panose="02040503050406030204" pitchFamily="18" charset="0"/>
                <a:ea typeface="Cambria Math" panose="02040503050406030204" pitchFamily="18" charset="0"/>
                <a:cs typeface="Inter" pitchFamily="34" charset="-120"/>
              </a:rPr>
              <a:t>more stable</a:t>
            </a:r>
            <a:r>
              <a:rPr lang="en-US" sz="1700" dirty="0">
                <a:solidFill>
                  <a:srgbClr val="272525"/>
                </a:solidFill>
                <a:latin typeface="Cambria Math" panose="02040503050406030204" pitchFamily="18" charset="0"/>
                <a:ea typeface="Cambria Math" panose="02040503050406030204" pitchFamily="18" charset="0"/>
                <a:cs typeface="Inter" pitchFamily="34" charset="-120"/>
              </a:rPr>
              <a:t>, and better generalization with tuning.</a:t>
            </a:r>
            <a:endParaRPr lang="en-US" sz="1700" dirty="0">
              <a:latin typeface="Cambria Math" panose="02040503050406030204" pitchFamily="18" charset="0"/>
              <a:ea typeface="Cambria Math" panose="02040503050406030204" pitchFamily="18" charset="0"/>
            </a:endParaRPr>
          </a:p>
        </p:txBody>
      </p:sp>
      <p:pic>
        <p:nvPicPr>
          <p:cNvPr id="34" name="Image 6"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281511" y="6302157"/>
            <a:ext cx="267891" cy="267891"/>
          </a:xfrm>
          <a:prstGeom prst="rect">
            <a:avLst/>
          </a:prstGeom>
        </p:spPr>
      </p:pic>
      <p:sp>
        <p:nvSpPr>
          <p:cNvPr id="35" name="Text 26"/>
          <p:cNvSpPr/>
          <p:nvPr/>
        </p:nvSpPr>
        <p:spPr>
          <a:xfrm>
            <a:off x="8795028" y="6296620"/>
            <a:ext cx="2232779" cy="278963"/>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Cambria Math" panose="02040503050406030204" pitchFamily="18" charset="0"/>
                <a:ea typeface="Cambria Math" panose="02040503050406030204" pitchFamily="18" charset="0"/>
                <a:cs typeface="Inter Bold" pitchFamily="34" charset="-120"/>
              </a:rPr>
              <a:t>RMSprop</a:t>
            </a:r>
            <a:endParaRPr lang="en-US" sz="1700" dirty="0">
              <a:latin typeface="Cambria Math" panose="02040503050406030204" pitchFamily="18" charset="0"/>
              <a:ea typeface="Cambria Math" panose="02040503050406030204" pitchFamily="18" charset="0"/>
            </a:endParaRPr>
          </a:p>
        </p:txBody>
      </p:sp>
      <p:sp>
        <p:nvSpPr>
          <p:cNvPr id="36" name="Text 27"/>
          <p:cNvSpPr/>
          <p:nvPr/>
        </p:nvSpPr>
        <p:spPr>
          <a:xfrm>
            <a:off x="8795028" y="6736318"/>
            <a:ext cx="5049083" cy="542925"/>
          </a:xfrm>
          <a:prstGeom prst="rect">
            <a:avLst/>
          </a:prstGeom>
          <a:noFill/>
          <a:ln/>
        </p:spPr>
        <p:txBody>
          <a:bodyPr wrap="square" lIns="0" tIns="0" rIns="0" bIns="0" rtlCol="0" anchor="t"/>
          <a:lstStyle/>
          <a:p>
            <a:pPr marL="0" indent="0" algn="l">
              <a:lnSpc>
                <a:spcPts val="2100"/>
              </a:lnSpc>
              <a:buNone/>
            </a:pPr>
            <a:r>
              <a:rPr lang="en-US" sz="1700" dirty="0">
                <a:solidFill>
                  <a:srgbClr val="272525"/>
                </a:solidFill>
                <a:latin typeface="Cambria Math" panose="02040503050406030204" pitchFamily="18" charset="0"/>
                <a:ea typeface="Cambria Math" panose="02040503050406030204" pitchFamily="18" charset="0"/>
                <a:cs typeface="Inter" pitchFamily="34" charset="-120"/>
              </a:rPr>
              <a:t>Handles </a:t>
            </a:r>
            <a:r>
              <a:rPr lang="en-US" sz="1700" b="1" dirty="0">
                <a:solidFill>
                  <a:srgbClr val="272525"/>
                </a:solidFill>
                <a:latin typeface="Cambria Math" panose="02040503050406030204" pitchFamily="18" charset="0"/>
                <a:ea typeface="Cambria Math" panose="02040503050406030204" pitchFamily="18" charset="0"/>
                <a:cs typeface="Inter" pitchFamily="34" charset="-120"/>
              </a:rPr>
              <a:t>noisy gradients</a:t>
            </a:r>
            <a:r>
              <a:rPr lang="en-US" sz="1700" dirty="0">
                <a:solidFill>
                  <a:srgbClr val="272525"/>
                </a:solidFill>
                <a:latin typeface="Cambria Math" panose="02040503050406030204" pitchFamily="18" charset="0"/>
                <a:ea typeface="Cambria Math" panose="02040503050406030204" pitchFamily="18" charset="0"/>
                <a:cs typeface="Inter" pitchFamily="34" charset="-120"/>
              </a:rPr>
              <a:t>, works well with non-stationary data, and is efficient for complex models.</a:t>
            </a:r>
            <a:endParaRPr lang="en-US" sz="1700" dirty="0">
              <a:latin typeface="Cambria Math" panose="02040503050406030204" pitchFamily="18" charset="0"/>
              <a:ea typeface="Cambria Math" panose="02040503050406030204" pitchFamily="18" charset="0"/>
            </a:endParaRPr>
          </a:p>
        </p:txBody>
      </p:sp>
      <p:pic>
        <p:nvPicPr>
          <p:cNvPr id="38" name="Picture 37">
            <a:extLst>
              <a:ext uri="{FF2B5EF4-FFF2-40B4-BE49-F238E27FC236}">
                <a16:creationId xmlns:a16="http://schemas.microsoft.com/office/drawing/2014/main" id="{CC9D875E-B903-014B-B924-35785E3351CB}"/>
              </a:ext>
            </a:extLst>
          </p:cNvPr>
          <p:cNvPicPr>
            <a:picLocks noChangeAspect="1"/>
          </p:cNvPicPr>
          <p:nvPr/>
        </p:nvPicPr>
        <p:blipFill>
          <a:blip r:embed="rId8"/>
          <a:stretch>
            <a:fillRect/>
          </a:stretch>
        </p:blipFill>
        <p:spPr>
          <a:xfrm>
            <a:off x="12239660" y="7701285"/>
            <a:ext cx="2339543" cy="39627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BC415C-06CC-BB19-ED1C-0B44AA9B2AFA}"/>
              </a:ext>
            </a:extLst>
          </p:cNvPr>
          <p:cNvPicPr>
            <a:picLocks noChangeAspect="1"/>
          </p:cNvPicPr>
          <p:nvPr/>
        </p:nvPicPr>
        <p:blipFill>
          <a:blip r:embed="rId2"/>
          <a:stretch>
            <a:fillRect/>
          </a:stretch>
        </p:blipFill>
        <p:spPr>
          <a:xfrm>
            <a:off x="12376602" y="7707596"/>
            <a:ext cx="2110923" cy="522004"/>
          </a:xfrm>
          <a:prstGeom prst="rect">
            <a:avLst/>
          </a:prstGeom>
        </p:spPr>
      </p:pic>
      <p:pic>
        <p:nvPicPr>
          <p:cNvPr id="5" name="Picture 4">
            <a:extLst>
              <a:ext uri="{FF2B5EF4-FFF2-40B4-BE49-F238E27FC236}">
                <a16:creationId xmlns:a16="http://schemas.microsoft.com/office/drawing/2014/main" id="{F38F66B2-2435-5117-8466-66E44C9E4E92}"/>
              </a:ext>
            </a:extLst>
          </p:cNvPr>
          <p:cNvPicPr>
            <a:picLocks noChangeAspect="1"/>
          </p:cNvPicPr>
          <p:nvPr/>
        </p:nvPicPr>
        <p:blipFill>
          <a:blip r:embed="rId3"/>
          <a:stretch>
            <a:fillRect/>
          </a:stretch>
        </p:blipFill>
        <p:spPr>
          <a:xfrm>
            <a:off x="781050" y="0"/>
            <a:ext cx="11696700" cy="8124154"/>
          </a:xfrm>
          <a:prstGeom prst="rect">
            <a:avLst/>
          </a:prstGeom>
        </p:spPr>
      </p:pic>
    </p:spTree>
    <p:extLst>
      <p:ext uri="{BB962C8B-B14F-4D97-AF65-F5344CB8AC3E}">
        <p14:creationId xmlns:p14="http://schemas.microsoft.com/office/powerpoint/2010/main" val="253324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9D0AB4-91F9-9FFB-AE92-BDAB2A7A6D32}"/>
              </a:ext>
            </a:extLst>
          </p:cNvPr>
          <p:cNvPicPr>
            <a:picLocks noChangeAspect="1"/>
          </p:cNvPicPr>
          <p:nvPr/>
        </p:nvPicPr>
        <p:blipFill>
          <a:blip r:embed="rId2"/>
          <a:stretch>
            <a:fillRect/>
          </a:stretch>
        </p:blipFill>
        <p:spPr>
          <a:xfrm>
            <a:off x="449576" y="304795"/>
            <a:ext cx="4926335" cy="4105279"/>
          </a:xfrm>
          <a:prstGeom prst="rect">
            <a:avLst/>
          </a:prstGeom>
        </p:spPr>
      </p:pic>
      <p:pic>
        <p:nvPicPr>
          <p:cNvPr id="5" name="Picture 4">
            <a:extLst>
              <a:ext uri="{FF2B5EF4-FFF2-40B4-BE49-F238E27FC236}">
                <a16:creationId xmlns:a16="http://schemas.microsoft.com/office/drawing/2014/main" id="{ABF09C49-2D18-6C44-2572-85A21DA55828}"/>
              </a:ext>
            </a:extLst>
          </p:cNvPr>
          <p:cNvPicPr>
            <a:picLocks noChangeAspect="1"/>
          </p:cNvPicPr>
          <p:nvPr/>
        </p:nvPicPr>
        <p:blipFill>
          <a:blip r:embed="rId3"/>
          <a:stretch>
            <a:fillRect/>
          </a:stretch>
        </p:blipFill>
        <p:spPr>
          <a:xfrm>
            <a:off x="8938259" y="219070"/>
            <a:ext cx="5372106" cy="4476755"/>
          </a:xfrm>
          <a:prstGeom prst="rect">
            <a:avLst/>
          </a:prstGeom>
        </p:spPr>
      </p:pic>
      <p:pic>
        <p:nvPicPr>
          <p:cNvPr id="7" name="Picture 6">
            <a:extLst>
              <a:ext uri="{FF2B5EF4-FFF2-40B4-BE49-F238E27FC236}">
                <a16:creationId xmlns:a16="http://schemas.microsoft.com/office/drawing/2014/main" id="{D277D71F-9E9C-0505-AA0B-DF357B268873}"/>
              </a:ext>
            </a:extLst>
          </p:cNvPr>
          <p:cNvPicPr>
            <a:picLocks noChangeAspect="1"/>
          </p:cNvPicPr>
          <p:nvPr/>
        </p:nvPicPr>
        <p:blipFill>
          <a:blip r:embed="rId4"/>
          <a:stretch>
            <a:fillRect/>
          </a:stretch>
        </p:blipFill>
        <p:spPr>
          <a:xfrm>
            <a:off x="4754877" y="3657600"/>
            <a:ext cx="5120646" cy="4267205"/>
          </a:xfrm>
          <a:prstGeom prst="rect">
            <a:avLst/>
          </a:prstGeom>
        </p:spPr>
      </p:pic>
      <p:pic>
        <p:nvPicPr>
          <p:cNvPr id="9" name="Picture 8">
            <a:extLst>
              <a:ext uri="{FF2B5EF4-FFF2-40B4-BE49-F238E27FC236}">
                <a16:creationId xmlns:a16="http://schemas.microsoft.com/office/drawing/2014/main" id="{54E23350-673F-81DC-03DE-ED7D44119C20}"/>
              </a:ext>
            </a:extLst>
          </p:cNvPr>
          <p:cNvPicPr>
            <a:picLocks noChangeAspect="1"/>
          </p:cNvPicPr>
          <p:nvPr/>
        </p:nvPicPr>
        <p:blipFill>
          <a:blip r:embed="rId5"/>
          <a:stretch>
            <a:fillRect/>
          </a:stretch>
        </p:blipFill>
        <p:spPr>
          <a:xfrm>
            <a:off x="4973791" y="750552"/>
            <a:ext cx="4280700" cy="506748"/>
          </a:xfrm>
          <a:prstGeom prst="rect">
            <a:avLst/>
          </a:prstGeom>
        </p:spPr>
      </p:pic>
      <p:pic>
        <p:nvPicPr>
          <p:cNvPr id="11" name="Picture 10">
            <a:extLst>
              <a:ext uri="{FF2B5EF4-FFF2-40B4-BE49-F238E27FC236}">
                <a16:creationId xmlns:a16="http://schemas.microsoft.com/office/drawing/2014/main" id="{8F73A2CF-BA10-655B-F887-00F7D6EA9329}"/>
              </a:ext>
            </a:extLst>
          </p:cNvPr>
          <p:cNvPicPr>
            <a:picLocks noChangeAspect="1"/>
          </p:cNvPicPr>
          <p:nvPr/>
        </p:nvPicPr>
        <p:blipFill>
          <a:blip r:embed="rId6"/>
          <a:stretch>
            <a:fillRect/>
          </a:stretch>
        </p:blipFill>
        <p:spPr>
          <a:xfrm>
            <a:off x="12102360" y="7669513"/>
            <a:ext cx="2408129" cy="510584"/>
          </a:xfrm>
          <a:prstGeom prst="rect">
            <a:avLst/>
          </a:prstGeom>
        </p:spPr>
      </p:pic>
    </p:spTree>
    <p:extLst>
      <p:ext uri="{BB962C8B-B14F-4D97-AF65-F5344CB8AC3E}">
        <p14:creationId xmlns:p14="http://schemas.microsoft.com/office/powerpoint/2010/main" val="3546502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AB6A25-5E9A-BEB8-BA28-93EF0BC39A11}"/>
              </a:ext>
            </a:extLst>
          </p:cNvPr>
          <p:cNvPicPr>
            <a:picLocks noChangeAspect="1"/>
          </p:cNvPicPr>
          <p:nvPr/>
        </p:nvPicPr>
        <p:blipFill>
          <a:blip r:embed="rId2"/>
          <a:stretch>
            <a:fillRect/>
          </a:stretch>
        </p:blipFill>
        <p:spPr>
          <a:xfrm>
            <a:off x="371469" y="0"/>
            <a:ext cx="5324481" cy="4437067"/>
          </a:xfrm>
          <a:prstGeom prst="rect">
            <a:avLst/>
          </a:prstGeom>
        </p:spPr>
      </p:pic>
      <p:pic>
        <p:nvPicPr>
          <p:cNvPr id="5" name="Picture 4">
            <a:extLst>
              <a:ext uri="{FF2B5EF4-FFF2-40B4-BE49-F238E27FC236}">
                <a16:creationId xmlns:a16="http://schemas.microsoft.com/office/drawing/2014/main" id="{B777F5B6-91B5-A95D-13D3-91694A27C5EA}"/>
              </a:ext>
            </a:extLst>
          </p:cNvPr>
          <p:cNvPicPr>
            <a:picLocks noChangeAspect="1"/>
          </p:cNvPicPr>
          <p:nvPr/>
        </p:nvPicPr>
        <p:blipFill>
          <a:blip r:embed="rId3"/>
          <a:stretch>
            <a:fillRect/>
          </a:stretch>
        </p:blipFill>
        <p:spPr>
          <a:xfrm>
            <a:off x="9305919" y="161920"/>
            <a:ext cx="5324481" cy="4437067"/>
          </a:xfrm>
          <a:prstGeom prst="rect">
            <a:avLst/>
          </a:prstGeom>
        </p:spPr>
      </p:pic>
      <p:pic>
        <p:nvPicPr>
          <p:cNvPr id="7" name="Picture 6">
            <a:extLst>
              <a:ext uri="{FF2B5EF4-FFF2-40B4-BE49-F238E27FC236}">
                <a16:creationId xmlns:a16="http://schemas.microsoft.com/office/drawing/2014/main" id="{66D9F0AF-647C-181C-502B-64D8A393849E}"/>
              </a:ext>
            </a:extLst>
          </p:cNvPr>
          <p:cNvPicPr>
            <a:picLocks noChangeAspect="1"/>
          </p:cNvPicPr>
          <p:nvPr/>
        </p:nvPicPr>
        <p:blipFill>
          <a:blip r:embed="rId4"/>
          <a:stretch>
            <a:fillRect/>
          </a:stretch>
        </p:blipFill>
        <p:spPr>
          <a:xfrm>
            <a:off x="4838689" y="3657591"/>
            <a:ext cx="5486411" cy="4572009"/>
          </a:xfrm>
          <a:prstGeom prst="rect">
            <a:avLst/>
          </a:prstGeom>
        </p:spPr>
      </p:pic>
      <p:pic>
        <p:nvPicPr>
          <p:cNvPr id="9" name="Picture 8">
            <a:extLst>
              <a:ext uri="{FF2B5EF4-FFF2-40B4-BE49-F238E27FC236}">
                <a16:creationId xmlns:a16="http://schemas.microsoft.com/office/drawing/2014/main" id="{3291200F-7C3D-B432-1FFB-F5DC3D2D225B}"/>
              </a:ext>
            </a:extLst>
          </p:cNvPr>
          <p:cNvPicPr>
            <a:picLocks noChangeAspect="1"/>
          </p:cNvPicPr>
          <p:nvPr/>
        </p:nvPicPr>
        <p:blipFill>
          <a:blip r:embed="rId5"/>
          <a:stretch>
            <a:fillRect/>
          </a:stretch>
        </p:blipFill>
        <p:spPr>
          <a:xfrm>
            <a:off x="5019676" y="360029"/>
            <a:ext cx="4591048" cy="457200"/>
          </a:xfrm>
          <a:prstGeom prst="rect">
            <a:avLst/>
          </a:prstGeom>
        </p:spPr>
      </p:pic>
      <p:pic>
        <p:nvPicPr>
          <p:cNvPr id="11" name="Picture 10">
            <a:extLst>
              <a:ext uri="{FF2B5EF4-FFF2-40B4-BE49-F238E27FC236}">
                <a16:creationId xmlns:a16="http://schemas.microsoft.com/office/drawing/2014/main" id="{7CC26BA5-EB79-10C3-3831-512C7EAD626D}"/>
              </a:ext>
            </a:extLst>
          </p:cNvPr>
          <p:cNvPicPr>
            <a:picLocks noChangeAspect="1"/>
          </p:cNvPicPr>
          <p:nvPr/>
        </p:nvPicPr>
        <p:blipFill>
          <a:blip r:embed="rId6"/>
          <a:stretch>
            <a:fillRect/>
          </a:stretch>
        </p:blipFill>
        <p:spPr>
          <a:xfrm>
            <a:off x="12092835" y="7671391"/>
            <a:ext cx="2408129" cy="510584"/>
          </a:xfrm>
          <a:prstGeom prst="rect">
            <a:avLst/>
          </a:prstGeom>
        </p:spPr>
      </p:pic>
    </p:spTree>
    <p:extLst>
      <p:ext uri="{BB962C8B-B14F-4D97-AF65-F5344CB8AC3E}">
        <p14:creationId xmlns:p14="http://schemas.microsoft.com/office/powerpoint/2010/main" val="2958761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75216" y="541258"/>
            <a:ext cx="1574602" cy="196810"/>
          </a:xfrm>
          <a:prstGeom prst="rect">
            <a:avLst/>
          </a:prstGeom>
          <a:noFill/>
          <a:ln/>
        </p:spPr>
        <p:txBody>
          <a:bodyPr wrap="none" lIns="0" tIns="0" rIns="0" bIns="0" rtlCol="0" anchor="t"/>
          <a:lstStyle/>
          <a:p>
            <a:pPr marL="0" indent="0" algn="l">
              <a:lnSpc>
                <a:spcPts val="1500"/>
              </a:lnSpc>
              <a:buNone/>
            </a:pPr>
            <a:r>
              <a:rPr lang="en-US" sz="2300" b="1" dirty="0">
                <a:solidFill>
                  <a:srgbClr val="000000"/>
                </a:solidFill>
                <a:latin typeface="Cambria Math" panose="02040503050406030204" pitchFamily="18" charset="0"/>
                <a:ea typeface="Cambria Math" panose="02040503050406030204" pitchFamily="18" charset="0"/>
                <a:cs typeface="Inter Bold" pitchFamily="34" charset="-120"/>
              </a:rPr>
              <a:t>Core Output</a:t>
            </a:r>
            <a:endParaRPr lang="en-US" sz="2300" dirty="0">
              <a:latin typeface="Cambria Math" panose="02040503050406030204" pitchFamily="18" charset="0"/>
              <a:ea typeface="Cambria Math" panose="02040503050406030204" pitchFamily="18" charset="0"/>
            </a:endParaRPr>
          </a:p>
        </p:txBody>
      </p:sp>
      <p:sp>
        <p:nvSpPr>
          <p:cNvPr id="3" name="Text 1"/>
          <p:cNvSpPr/>
          <p:nvPr/>
        </p:nvSpPr>
        <p:spPr>
          <a:xfrm>
            <a:off x="775216" y="769977"/>
            <a:ext cx="4131826" cy="393621"/>
          </a:xfrm>
          <a:prstGeom prst="rect">
            <a:avLst/>
          </a:prstGeom>
          <a:noFill/>
          <a:ln/>
        </p:spPr>
        <p:txBody>
          <a:bodyPr wrap="none" lIns="0" tIns="0" rIns="0" bIns="0" rtlCol="0" anchor="t"/>
          <a:lstStyle/>
          <a:p>
            <a:pPr marL="0" indent="0" algn="l">
              <a:lnSpc>
                <a:spcPts val="3050"/>
              </a:lnSpc>
              <a:buNone/>
            </a:pPr>
            <a:r>
              <a:rPr lang="en-US" sz="1350" b="1" dirty="0">
                <a:solidFill>
                  <a:srgbClr val="000000"/>
                </a:solidFill>
                <a:latin typeface="Cambria Math" panose="02040503050406030204" pitchFamily="18" charset="0"/>
                <a:ea typeface="Cambria Math" panose="02040503050406030204" pitchFamily="18" charset="0"/>
                <a:cs typeface="Inter Bold" pitchFamily="34" charset="-120"/>
              </a:rPr>
              <a:t>The Unified Integrity Score</a:t>
            </a:r>
            <a:endParaRPr lang="en-US" sz="1350" dirty="0">
              <a:latin typeface="Cambria Math" panose="02040503050406030204" pitchFamily="18" charset="0"/>
              <a:ea typeface="Cambria Math" panose="02040503050406030204" pitchFamily="18" charset="0"/>
            </a:endParaRPr>
          </a:p>
        </p:txBody>
      </p:sp>
      <p:sp>
        <p:nvSpPr>
          <p:cNvPr id="4" name="Text 2"/>
          <p:cNvSpPr/>
          <p:nvPr/>
        </p:nvSpPr>
        <p:spPr>
          <a:xfrm>
            <a:off x="775216" y="1283494"/>
            <a:ext cx="13079968" cy="164663"/>
          </a:xfrm>
          <a:prstGeom prst="rect">
            <a:avLst/>
          </a:prstGeom>
          <a:noFill/>
          <a:ln/>
        </p:spPr>
        <p:txBody>
          <a:bodyPr wrap="none" lIns="0" tIns="0" rIns="0" bIns="0" rtlCol="0" anchor="t"/>
          <a:lstStyle/>
          <a:p>
            <a:pPr marL="0" indent="0" algn="l">
              <a:lnSpc>
                <a:spcPts val="1250"/>
              </a:lnSpc>
              <a:buNone/>
            </a:pPr>
            <a:r>
              <a:rPr lang="en-US" sz="1350" dirty="0">
                <a:solidFill>
                  <a:srgbClr val="272525"/>
                </a:solidFill>
                <a:latin typeface="Cambria Math" panose="02040503050406030204" pitchFamily="18" charset="0"/>
                <a:ea typeface="Cambria Math" panose="02040503050406030204" pitchFamily="18" charset="0"/>
                <a:cs typeface="Inter" pitchFamily="34" charset="-120"/>
              </a:rPr>
              <a:t>The Integrity Score is the system's signature output — a single, weighted composite metric synthesizing predictions from all three models into one interpretable trust indicator.</a:t>
            </a:r>
            <a:endParaRPr lang="en-US" sz="1350" dirty="0">
              <a:latin typeface="Cambria Math" panose="02040503050406030204" pitchFamily="18" charset="0"/>
              <a:ea typeface="Cambria Math" panose="02040503050406030204" pitchFamily="18" charset="0"/>
            </a:endParaRPr>
          </a:p>
        </p:txBody>
      </p:sp>
      <p:pic>
        <p:nvPicPr>
          <p:cNvPr id="5" name="Image 0" descr="preencoded.png"/>
          <p:cNvPicPr>
            <a:picLocks noChangeAspect="1"/>
          </p:cNvPicPr>
          <p:nvPr/>
        </p:nvPicPr>
        <p:blipFill>
          <a:blip r:embed="rId3"/>
          <a:stretch>
            <a:fillRect/>
          </a:stretch>
        </p:blipFill>
        <p:spPr>
          <a:xfrm>
            <a:off x="775216" y="1538049"/>
            <a:ext cx="8236268" cy="4596884"/>
          </a:xfrm>
          <a:prstGeom prst="rect">
            <a:avLst/>
          </a:prstGeom>
        </p:spPr>
      </p:pic>
      <p:pic>
        <p:nvPicPr>
          <p:cNvPr id="6" name="Image 1" descr="preencoded.png"/>
          <p:cNvPicPr>
            <a:picLocks noChangeAspect="1"/>
          </p:cNvPicPr>
          <p:nvPr/>
        </p:nvPicPr>
        <p:blipFill>
          <a:blip r:embed="rId4"/>
          <a:stretch>
            <a:fillRect/>
          </a:stretch>
        </p:blipFill>
        <p:spPr>
          <a:xfrm>
            <a:off x="775216" y="1538049"/>
            <a:ext cx="8236268" cy="4596884"/>
          </a:xfrm>
          <a:prstGeom prst="rect">
            <a:avLst/>
          </a:prstGeom>
        </p:spPr>
      </p:pic>
      <p:sp>
        <p:nvSpPr>
          <p:cNvPr id="7" name="Shape 3"/>
          <p:cNvSpPr/>
          <p:nvPr/>
        </p:nvSpPr>
        <p:spPr>
          <a:xfrm>
            <a:off x="775216" y="6224826"/>
            <a:ext cx="4306729" cy="691753"/>
          </a:xfrm>
          <a:prstGeom prst="roundRect">
            <a:avLst>
              <a:gd name="adj" fmla="val 7649"/>
            </a:avLst>
          </a:prstGeom>
          <a:solidFill>
            <a:srgbClr val="FFFFFF"/>
          </a:solidFill>
          <a:ln w="15240">
            <a:solidFill>
              <a:srgbClr val="C0C1D7"/>
            </a:solidFill>
            <a:prstDash val="solid"/>
          </a:ln>
        </p:spPr>
      </p:sp>
      <p:sp>
        <p:nvSpPr>
          <p:cNvPr id="8" name="Text 4"/>
          <p:cNvSpPr/>
          <p:nvPr/>
        </p:nvSpPr>
        <p:spPr>
          <a:xfrm>
            <a:off x="1838920" y="6366034"/>
            <a:ext cx="2179201" cy="196810"/>
          </a:xfrm>
          <a:prstGeom prst="rect">
            <a:avLst/>
          </a:prstGeom>
          <a:noFill/>
          <a:ln/>
        </p:spPr>
        <p:txBody>
          <a:bodyPr wrap="none" lIns="0" tIns="0" rIns="0" bIns="0" rtlCol="0" anchor="t"/>
          <a:lstStyle/>
          <a:p>
            <a:pPr marL="0" indent="0" algn="ctr">
              <a:lnSpc>
                <a:spcPts val="1500"/>
              </a:lnSpc>
              <a:buNone/>
            </a:pPr>
            <a:r>
              <a:rPr lang="en-US" sz="1350" b="1" dirty="0">
                <a:solidFill>
                  <a:srgbClr val="272525"/>
                </a:solidFill>
                <a:latin typeface="Cambria Math" panose="02040503050406030204" pitchFamily="18" charset="0"/>
                <a:ea typeface="Cambria Math" panose="02040503050406030204" pitchFamily="18" charset="0"/>
                <a:cs typeface="Inter Bold" pitchFamily="34" charset="-120"/>
              </a:rPr>
              <a:t>80–100 · Highly Trustworthy</a:t>
            </a:r>
            <a:endParaRPr lang="en-US" sz="1350" dirty="0">
              <a:latin typeface="Cambria Math" panose="02040503050406030204" pitchFamily="18" charset="0"/>
              <a:ea typeface="Cambria Math" panose="02040503050406030204" pitchFamily="18" charset="0"/>
            </a:endParaRPr>
          </a:p>
        </p:txBody>
      </p:sp>
      <p:sp>
        <p:nvSpPr>
          <p:cNvPr id="9" name="Text 5"/>
          <p:cNvSpPr/>
          <p:nvPr/>
        </p:nvSpPr>
        <p:spPr>
          <a:xfrm>
            <a:off x="916424" y="6610707"/>
            <a:ext cx="4024313" cy="164663"/>
          </a:xfrm>
          <a:prstGeom prst="rect">
            <a:avLst/>
          </a:prstGeom>
          <a:noFill/>
          <a:ln/>
        </p:spPr>
        <p:txBody>
          <a:bodyPr wrap="none" lIns="0" tIns="0" rIns="0" bIns="0" rtlCol="0" anchor="t"/>
          <a:lstStyle/>
          <a:p>
            <a:pPr marL="0" indent="0" algn="ctr">
              <a:lnSpc>
                <a:spcPts val="1250"/>
              </a:lnSpc>
              <a:buNone/>
            </a:pPr>
            <a:r>
              <a:rPr lang="en-US" sz="1350" dirty="0">
                <a:solidFill>
                  <a:srgbClr val="272525"/>
                </a:solidFill>
                <a:latin typeface="Cambria Math" panose="02040503050406030204" pitchFamily="18" charset="0"/>
                <a:ea typeface="Cambria Math" panose="02040503050406030204" pitchFamily="18" charset="0"/>
                <a:cs typeface="Inter" pitchFamily="34" charset="-120"/>
              </a:rPr>
              <a:t>Content passes all three checks. Safe to consume and share.</a:t>
            </a:r>
            <a:endParaRPr lang="en-US" sz="1350" dirty="0">
              <a:latin typeface="Cambria Math" panose="02040503050406030204" pitchFamily="18" charset="0"/>
              <a:ea typeface="Cambria Math" panose="02040503050406030204" pitchFamily="18" charset="0"/>
            </a:endParaRPr>
          </a:p>
        </p:txBody>
      </p:sp>
      <p:sp>
        <p:nvSpPr>
          <p:cNvPr id="10" name="Shape 6"/>
          <p:cNvSpPr/>
          <p:nvPr/>
        </p:nvSpPr>
        <p:spPr>
          <a:xfrm>
            <a:off x="5161836" y="6224826"/>
            <a:ext cx="4306729" cy="691753"/>
          </a:xfrm>
          <a:prstGeom prst="roundRect">
            <a:avLst>
              <a:gd name="adj" fmla="val 7649"/>
            </a:avLst>
          </a:prstGeom>
          <a:solidFill>
            <a:srgbClr val="FFFFFF"/>
          </a:solidFill>
          <a:ln w="15240">
            <a:solidFill>
              <a:srgbClr val="C0C1D7"/>
            </a:solidFill>
            <a:prstDash val="solid"/>
          </a:ln>
        </p:spPr>
      </p:sp>
      <p:sp>
        <p:nvSpPr>
          <p:cNvPr id="11" name="Text 7"/>
          <p:cNvSpPr/>
          <p:nvPr/>
        </p:nvSpPr>
        <p:spPr>
          <a:xfrm>
            <a:off x="6417112" y="6366034"/>
            <a:ext cx="1796058" cy="196810"/>
          </a:xfrm>
          <a:prstGeom prst="rect">
            <a:avLst/>
          </a:prstGeom>
          <a:noFill/>
          <a:ln/>
        </p:spPr>
        <p:txBody>
          <a:bodyPr wrap="none" lIns="0" tIns="0" rIns="0" bIns="0" rtlCol="0" anchor="t"/>
          <a:lstStyle/>
          <a:p>
            <a:pPr marL="0" indent="0" algn="ctr">
              <a:lnSpc>
                <a:spcPts val="1500"/>
              </a:lnSpc>
              <a:buNone/>
            </a:pPr>
            <a:r>
              <a:rPr lang="en-US" sz="1350" b="1" dirty="0">
                <a:solidFill>
                  <a:srgbClr val="272525"/>
                </a:solidFill>
                <a:latin typeface="Cambria Math" panose="02040503050406030204" pitchFamily="18" charset="0"/>
                <a:ea typeface="Cambria Math" panose="02040503050406030204" pitchFamily="18" charset="0"/>
                <a:cs typeface="Inter Bold" pitchFamily="34" charset="-120"/>
              </a:rPr>
              <a:t>60–80 · Mostly Reliable</a:t>
            </a:r>
            <a:endParaRPr lang="en-US" sz="1350" dirty="0">
              <a:latin typeface="Cambria Math" panose="02040503050406030204" pitchFamily="18" charset="0"/>
              <a:ea typeface="Cambria Math" panose="02040503050406030204" pitchFamily="18" charset="0"/>
            </a:endParaRPr>
          </a:p>
        </p:txBody>
      </p:sp>
      <p:sp>
        <p:nvSpPr>
          <p:cNvPr id="12" name="Text 8"/>
          <p:cNvSpPr/>
          <p:nvPr/>
        </p:nvSpPr>
        <p:spPr>
          <a:xfrm>
            <a:off x="5303044" y="6610707"/>
            <a:ext cx="4024313" cy="164663"/>
          </a:xfrm>
          <a:prstGeom prst="rect">
            <a:avLst/>
          </a:prstGeom>
          <a:noFill/>
          <a:ln/>
        </p:spPr>
        <p:txBody>
          <a:bodyPr wrap="none" lIns="0" tIns="0" rIns="0" bIns="0" rtlCol="0" anchor="t"/>
          <a:lstStyle/>
          <a:p>
            <a:pPr marL="0" indent="0" algn="ctr">
              <a:lnSpc>
                <a:spcPts val="1250"/>
              </a:lnSpc>
              <a:buNone/>
            </a:pPr>
            <a:r>
              <a:rPr lang="en-US" sz="1350" dirty="0">
                <a:solidFill>
                  <a:srgbClr val="272525"/>
                </a:solidFill>
                <a:latin typeface="Cambria Math" panose="02040503050406030204" pitchFamily="18" charset="0"/>
                <a:ea typeface="Cambria Math" panose="02040503050406030204" pitchFamily="18" charset="0"/>
                <a:cs typeface="Inter" pitchFamily="34" charset="-120"/>
              </a:rPr>
              <a:t>Minor anomalies detected. Exercise standard caution.</a:t>
            </a:r>
            <a:endParaRPr lang="en-US" sz="1350" dirty="0">
              <a:latin typeface="Cambria Math" panose="02040503050406030204" pitchFamily="18" charset="0"/>
              <a:ea typeface="Cambria Math" panose="02040503050406030204" pitchFamily="18" charset="0"/>
            </a:endParaRPr>
          </a:p>
        </p:txBody>
      </p:sp>
      <p:sp>
        <p:nvSpPr>
          <p:cNvPr id="13" name="Shape 9"/>
          <p:cNvSpPr/>
          <p:nvPr/>
        </p:nvSpPr>
        <p:spPr>
          <a:xfrm>
            <a:off x="9548455" y="6224826"/>
            <a:ext cx="4306729" cy="691753"/>
          </a:xfrm>
          <a:prstGeom prst="roundRect">
            <a:avLst>
              <a:gd name="adj" fmla="val 7649"/>
            </a:avLst>
          </a:prstGeom>
          <a:solidFill>
            <a:srgbClr val="FFFFFF"/>
          </a:solidFill>
          <a:ln w="15240">
            <a:solidFill>
              <a:srgbClr val="C0C1D7"/>
            </a:solidFill>
            <a:prstDash val="solid"/>
          </a:ln>
        </p:spPr>
      </p:sp>
      <p:sp>
        <p:nvSpPr>
          <p:cNvPr id="14" name="Text 10"/>
          <p:cNvSpPr/>
          <p:nvPr/>
        </p:nvSpPr>
        <p:spPr>
          <a:xfrm>
            <a:off x="10660856" y="6366034"/>
            <a:ext cx="2081927" cy="196810"/>
          </a:xfrm>
          <a:prstGeom prst="rect">
            <a:avLst/>
          </a:prstGeom>
          <a:noFill/>
          <a:ln/>
        </p:spPr>
        <p:txBody>
          <a:bodyPr wrap="none" lIns="0" tIns="0" rIns="0" bIns="0" rtlCol="0" anchor="t"/>
          <a:lstStyle/>
          <a:p>
            <a:pPr marL="0" indent="0" algn="ctr">
              <a:lnSpc>
                <a:spcPts val="1500"/>
              </a:lnSpc>
              <a:buNone/>
            </a:pPr>
            <a:r>
              <a:rPr lang="en-US" sz="1350" b="1" dirty="0">
                <a:solidFill>
                  <a:srgbClr val="272525"/>
                </a:solidFill>
                <a:latin typeface="Cambria Math" panose="02040503050406030204" pitchFamily="18" charset="0"/>
                <a:ea typeface="Cambria Math" panose="02040503050406030204" pitchFamily="18" charset="0"/>
                <a:cs typeface="Inter Bold" pitchFamily="34" charset="-120"/>
              </a:rPr>
              <a:t>40–60 · Mixed / Suspicious</a:t>
            </a:r>
            <a:endParaRPr lang="en-US" sz="1350" dirty="0">
              <a:latin typeface="Cambria Math" panose="02040503050406030204" pitchFamily="18" charset="0"/>
              <a:ea typeface="Cambria Math" panose="02040503050406030204" pitchFamily="18" charset="0"/>
            </a:endParaRPr>
          </a:p>
        </p:txBody>
      </p:sp>
      <p:sp>
        <p:nvSpPr>
          <p:cNvPr id="15" name="Text 11"/>
          <p:cNvSpPr/>
          <p:nvPr/>
        </p:nvSpPr>
        <p:spPr>
          <a:xfrm>
            <a:off x="9689663" y="6610707"/>
            <a:ext cx="4024313" cy="164663"/>
          </a:xfrm>
          <a:prstGeom prst="rect">
            <a:avLst/>
          </a:prstGeom>
          <a:noFill/>
          <a:ln/>
        </p:spPr>
        <p:txBody>
          <a:bodyPr wrap="none" lIns="0" tIns="0" rIns="0" bIns="0" rtlCol="0" anchor="t"/>
          <a:lstStyle/>
          <a:p>
            <a:pPr marL="0" indent="0" algn="ctr">
              <a:lnSpc>
                <a:spcPts val="1250"/>
              </a:lnSpc>
              <a:buNone/>
            </a:pPr>
            <a:r>
              <a:rPr lang="en-US" sz="1350" dirty="0">
                <a:solidFill>
                  <a:srgbClr val="272525"/>
                </a:solidFill>
                <a:latin typeface="Cambria Math" panose="02040503050406030204" pitchFamily="18" charset="0"/>
                <a:ea typeface="Cambria Math" panose="02040503050406030204" pitchFamily="18" charset="0"/>
                <a:cs typeface="Inter" pitchFamily="34" charset="-120"/>
              </a:rPr>
              <a:t>Notable concerns flagged. Manual review recommended.</a:t>
            </a:r>
            <a:endParaRPr lang="en-US" sz="1350" dirty="0">
              <a:latin typeface="Cambria Math" panose="02040503050406030204" pitchFamily="18" charset="0"/>
              <a:ea typeface="Cambria Math" panose="02040503050406030204" pitchFamily="18" charset="0"/>
            </a:endParaRPr>
          </a:p>
        </p:txBody>
      </p:sp>
      <p:sp>
        <p:nvSpPr>
          <p:cNvPr id="16" name="Shape 12"/>
          <p:cNvSpPr/>
          <p:nvPr/>
        </p:nvSpPr>
        <p:spPr>
          <a:xfrm>
            <a:off x="775216" y="6996470"/>
            <a:ext cx="13079968" cy="691753"/>
          </a:xfrm>
          <a:prstGeom prst="roundRect">
            <a:avLst>
              <a:gd name="adj" fmla="val 7649"/>
            </a:avLst>
          </a:prstGeom>
          <a:solidFill>
            <a:srgbClr val="FFFFFF"/>
          </a:solidFill>
          <a:ln w="15240">
            <a:solidFill>
              <a:srgbClr val="C0C1D7"/>
            </a:solidFill>
            <a:prstDash val="solid"/>
          </a:ln>
        </p:spPr>
      </p:sp>
      <p:sp>
        <p:nvSpPr>
          <p:cNvPr id="17" name="Text 13"/>
          <p:cNvSpPr/>
          <p:nvPr/>
        </p:nvSpPr>
        <p:spPr>
          <a:xfrm>
            <a:off x="6328648" y="7137678"/>
            <a:ext cx="1973104" cy="196810"/>
          </a:xfrm>
          <a:prstGeom prst="rect">
            <a:avLst/>
          </a:prstGeom>
          <a:noFill/>
          <a:ln/>
        </p:spPr>
        <p:txBody>
          <a:bodyPr wrap="none" lIns="0" tIns="0" rIns="0" bIns="0" rtlCol="0" anchor="t"/>
          <a:lstStyle/>
          <a:p>
            <a:pPr marL="0" indent="0" algn="ctr">
              <a:lnSpc>
                <a:spcPts val="1500"/>
              </a:lnSpc>
              <a:buNone/>
            </a:pPr>
            <a:r>
              <a:rPr lang="en-US" sz="1350" b="1" dirty="0">
                <a:solidFill>
                  <a:srgbClr val="272525"/>
                </a:solidFill>
                <a:latin typeface="Cambria Math" panose="02040503050406030204" pitchFamily="18" charset="0"/>
                <a:ea typeface="Cambria Math" panose="02040503050406030204" pitchFamily="18" charset="0"/>
                <a:cs typeface="Inter Bold" pitchFamily="34" charset="-120"/>
              </a:rPr>
              <a:t>0–40 · Likely Manipulated</a:t>
            </a:r>
            <a:endParaRPr lang="en-US" sz="1350" dirty="0">
              <a:latin typeface="Cambria Math" panose="02040503050406030204" pitchFamily="18" charset="0"/>
              <a:ea typeface="Cambria Math" panose="02040503050406030204" pitchFamily="18" charset="0"/>
            </a:endParaRPr>
          </a:p>
        </p:txBody>
      </p:sp>
      <p:sp>
        <p:nvSpPr>
          <p:cNvPr id="18" name="Text 14"/>
          <p:cNvSpPr/>
          <p:nvPr/>
        </p:nvSpPr>
        <p:spPr>
          <a:xfrm>
            <a:off x="916424" y="7382351"/>
            <a:ext cx="12797552" cy="164663"/>
          </a:xfrm>
          <a:prstGeom prst="rect">
            <a:avLst/>
          </a:prstGeom>
          <a:noFill/>
          <a:ln/>
        </p:spPr>
        <p:txBody>
          <a:bodyPr wrap="none" lIns="0" tIns="0" rIns="0" bIns="0" rtlCol="0" anchor="t"/>
          <a:lstStyle/>
          <a:p>
            <a:pPr marL="0" indent="0" algn="ctr">
              <a:lnSpc>
                <a:spcPts val="1250"/>
              </a:lnSpc>
              <a:buNone/>
            </a:pPr>
            <a:r>
              <a:rPr lang="en-US" sz="1350" dirty="0">
                <a:solidFill>
                  <a:srgbClr val="272525"/>
                </a:solidFill>
                <a:latin typeface="Cambria Math" panose="02040503050406030204" pitchFamily="18" charset="0"/>
                <a:ea typeface="Cambria Math" panose="02040503050406030204" pitchFamily="18" charset="0"/>
                <a:cs typeface="Inter" pitchFamily="34" charset="-120"/>
              </a:rPr>
              <a:t>High-confidence manipulation detected. Do not trust or share.</a:t>
            </a:r>
            <a:endParaRPr lang="en-US" sz="1350" dirty="0">
              <a:latin typeface="Cambria Math" panose="02040503050406030204" pitchFamily="18" charset="0"/>
              <a:ea typeface="Cambria Math" panose="02040503050406030204" pitchFamily="18" charset="0"/>
            </a:endParaRPr>
          </a:p>
        </p:txBody>
      </p:sp>
      <p:pic>
        <p:nvPicPr>
          <p:cNvPr id="20" name="Picture 19">
            <a:extLst>
              <a:ext uri="{FF2B5EF4-FFF2-40B4-BE49-F238E27FC236}">
                <a16:creationId xmlns:a16="http://schemas.microsoft.com/office/drawing/2014/main" id="{B050073D-A9B7-D78F-9BBB-4B05F0D10B18}"/>
              </a:ext>
            </a:extLst>
          </p:cNvPr>
          <p:cNvPicPr>
            <a:picLocks noChangeAspect="1"/>
          </p:cNvPicPr>
          <p:nvPr/>
        </p:nvPicPr>
        <p:blipFill>
          <a:blip r:embed="rId5"/>
          <a:stretch>
            <a:fillRect/>
          </a:stretch>
        </p:blipFill>
        <p:spPr>
          <a:xfrm>
            <a:off x="12233707" y="7734758"/>
            <a:ext cx="2339543" cy="39627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068943"/>
            <a:ext cx="2108716" cy="263485"/>
          </a:xfrm>
          <a:prstGeom prst="rect">
            <a:avLst/>
          </a:prstGeom>
          <a:noFill/>
          <a:ln/>
        </p:spPr>
        <p:txBody>
          <a:bodyPr wrap="none" lIns="0" tIns="0" rIns="0" bIns="0" rtlCol="0" anchor="t"/>
          <a:lstStyle/>
          <a:p>
            <a:pPr marL="0" indent="0" algn="l">
              <a:lnSpc>
                <a:spcPts val="2050"/>
              </a:lnSpc>
              <a:buNone/>
            </a:pPr>
            <a:r>
              <a:rPr lang="en-US" sz="2200" b="1" dirty="0">
                <a:solidFill>
                  <a:srgbClr val="000000"/>
                </a:solidFill>
                <a:latin typeface="Cambria Math" panose="02040503050406030204" pitchFamily="18" charset="0"/>
                <a:ea typeface="Cambria Math" panose="02040503050406030204" pitchFamily="18" charset="0"/>
                <a:cs typeface="Inter Bold" pitchFamily="34" charset="-120"/>
              </a:rPr>
              <a:t>Application</a:t>
            </a:r>
            <a:endParaRPr lang="en-US" sz="2200" dirty="0">
              <a:latin typeface="Cambria Math" panose="02040503050406030204" pitchFamily="18" charset="0"/>
              <a:ea typeface="Cambria Math" panose="02040503050406030204" pitchFamily="18" charset="0"/>
            </a:endParaRPr>
          </a:p>
        </p:txBody>
      </p:sp>
      <p:sp>
        <p:nvSpPr>
          <p:cNvPr id="4" name="Text 1"/>
          <p:cNvSpPr/>
          <p:nvPr/>
        </p:nvSpPr>
        <p:spPr>
          <a:xfrm>
            <a:off x="6280190" y="1389698"/>
            <a:ext cx="4858345" cy="527090"/>
          </a:xfrm>
          <a:prstGeom prst="rect">
            <a:avLst/>
          </a:prstGeom>
          <a:noFill/>
          <a:ln/>
        </p:spPr>
        <p:txBody>
          <a:bodyPr wrap="none" lIns="0" tIns="0" rIns="0" bIns="0" rtlCol="0" anchor="t"/>
          <a:lstStyle/>
          <a:p>
            <a:pPr marL="0" indent="0" algn="l">
              <a:lnSpc>
                <a:spcPts val="4150"/>
              </a:lnSpc>
              <a:buNone/>
            </a:pPr>
            <a:r>
              <a:rPr lang="en-US" sz="1600" b="1" dirty="0">
                <a:solidFill>
                  <a:srgbClr val="000000"/>
                </a:solidFill>
                <a:latin typeface="Cambria Math" panose="02040503050406030204" pitchFamily="18" charset="0"/>
                <a:ea typeface="Cambria Math" panose="02040503050406030204" pitchFamily="18" charset="0"/>
                <a:cs typeface="Inter Bold" pitchFamily="34" charset="-120"/>
              </a:rPr>
              <a:t>Streamlit Web Interface</a:t>
            </a:r>
            <a:endParaRPr lang="en-US" sz="1600" dirty="0">
              <a:latin typeface="Cambria Math" panose="02040503050406030204" pitchFamily="18" charset="0"/>
              <a:ea typeface="Cambria Math" panose="02040503050406030204" pitchFamily="18" charset="0"/>
            </a:endParaRPr>
          </a:p>
        </p:txBody>
      </p:sp>
      <p:sp>
        <p:nvSpPr>
          <p:cNvPr id="5" name="Text 2"/>
          <p:cNvSpPr/>
          <p:nvPr/>
        </p:nvSpPr>
        <p:spPr>
          <a:xfrm>
            <a:off x="6280190" y="2131814"/>
            <a:ext cx="7556421" cy="998696"/>
          </a:xfrm>
          <a:prstGeom prst="rect">
            <a:avLst/>
          </a:prstGeom>
          <a:noFill/>
          <a:ln/>
        </p:spPr>
        <p:txBody>
          <a:bodyPr wrap="square" lIns="0" tIns="0" rIns="0" bIns="0" rtlCol="0" anchor="t"/>
          <a:lstStyle/>
          <a:p>
            <a:pPr marL="0" indent="0" algn="l">
              <a:lnSpc>
                <a:spcPts val="1950"/>
              </a:lnSpc>
              <a:buNone/>
            </a:pPr>
            <a:r>
              <a:rPr lang="en-US" sz="1600" dirty="0">
                <a:solidFill>
                  <a:srgbClr val="272525"/>
                </a:solidFill>
                <a:latin typeface="Cambria Math" panose="02040503050406030204" pitchFamily="18" charset="0"/>
                <a:ea typeface="Cambria Math" panose="02040503050406030204" pitchFamily="18" charset="0"/>
                <a:cs typeface="Inter" pitchFamily="34" charset="-120"/>
              </a:rPr>
              <a:t>Integrity Agent is delivered through an interactive </a:t>
            </a:r>
            <a:r>
              <a:rPr lang="en-US" sz="1600" b="1" dirty="0">
                <a:solidFill>
                  <a:srgbClr val="272525"/>
                </a:solidFill>
                <a:latin typeface="Cambria Math" panose="02040503050406030204" pitchFamily="18" charset="0"/>
                <a:ea typeface="Cambria Math" panose="02040503050406030204" pitchFamily="18" charset="0"/>
                <a:cs typeface="Inter" pitchFamily="34" charset="-120"/>
              </a:rPr>
              <a:t>Streamlit web application</a:t>
            </a:r>
            <a:r>
              <a:rPr lang="en-US" sz="1600" dirty="0">
                <a:solidFill>
                  <a:srgbClr val="272525"/>
                </a:solidFill>
                <a:latin typeface="Cambria Math" panose="02040503050406030204" pitchFamily="18" charset="0"/>
                <a:ea typeface="Cambria Math" panose="02040503050406030204" pitchFamily="18" charset="0"/>
                <a:cs typeface="Inter" pitchFamily="34" charset="-120"/>
              </a:rPr>
              <a:t> that makes integrity analysis immediate, transparent, and easy to use. The interface reduces cognitive load while still exposing the logic behind each result, helping users move from input to insight with minimal friction.</a:t>
            </a:r>
            <a:endParaRPr lang="en-US" sz="1600" dirty="0">
              <a:latin typeface="Cambria Math" panose="02040503050406030204" pitchFamily="18" charset="0"/>
              <a:ea typeface="Cambria Math" panose="02040503050406030204" pitchFamily="18" charset="0"/>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80190" y="3291721"/>
            <a:ext cx="421719" cy="421719"/>
          </a:xfrm>
          <a:prstGeom prst="rect">
            <a:avLst/>
          </a:prstGeom>
        </p:spPr>
      </p:pic>
      <p:sp>
        <p:nvSpPr>
          <p:cNvPr id="7" name="Text 3"/>
          <p:cNvSpPr/>
          <p:nvPr/>
        </p:nvSpPr>
        <p:spPr>
          <a:xfrm>
            <a:off x="6881098" y="3291721"/>
            <a:ext cx="2161103" cy="263485"/>
          </a:xfrm>
          <a:prstGeom prst="rect">
            <a:avLst/>
          </a:prstGeom>
          <a:noFill/>
          <a:ln/>
        </p:spPr>
        <p:txBody>
          <a:bodyPr wrap="none" lIns="0" tIns="0" rIns="0" bIns="0" rtlCol="0" anchor="t"/>
          <a:lstStyle/>
          <a:p>
            <a:pPr marL="0" indent="0" algn="l">
              <a:lnSpc>
                <a:spcPts val="2050"/>
              </a:lnSpc>
              <a:buNone/>
            </a:pPr>
            <a:r>
              <a:rPr lang="en-US" sz="1600" b="1" dirty="0">
                <a:solidFill>
                  <a:srgbClr val="272525"/>
                </a:solidFill>
                <a:latin typeface="Cambria Math" panose="02040503050406030204" pitchFamily="18" charset="0"/>
                <a:ea typeface="Cambria Math" panose="02040503050406030204" pitchFamily="18" charset="0"/>
                <a:cs typeface="Inter Bold" pitchFamily="34" charset="-120"/>
              </a:rPr>
              <a:t>Text Input &amp; Analysis</a:t>
            </a:r>
            <a:endParaRPr lang="en-US" sz="1600" dirty="0">
              <a:latin typeface="Cambria Math" panose="02040503050406030204" pitchFamily="18" charset="0"/>
              <a:ea typeface="Cambria Math" panose="02040503050406030204" pitchFamily="18" charset="0"/>
            </a:endParaRPr>
          </a:p>
        </p:txBody>
      </p:sp>
      <p:sp>
        <p:nvSpPr>
          <p:cNvPr id="8" name="Text 4"/>
          <p:cNvSpPr/>
          <p:nvPr/>
        </p:nvSpPr>
        <p:spPr>
          <a:xfrm>
            <a:off x="6881098" y="3641169"/>
            <a:ext cx="6955512" cy="749022"/>
          </a:xfrm>
          <a:prstGeom prst="rect">
            <a:avLst/>
          </a:prstGeom>
          <a:noFill/>
          <a:ln/>
        </p:spPr>
        <p:txBody>
          <a:bodyPr wrap="square" lIns="0" tIns="0" rIns="0" bIns="0" rtlCol="0" anchor="t"/>
          <a:lstStyle/>
          <a:p>
            <a:pPr marL="0" indent="0" algn="l">
              <a:lnSpc>
                <a:spcPts val="1950"/>
              </a:lnSpc>
              <a:buNone/>
            </a:pPr>
            <a:r>
              <a:rPr lang="en-US" sz="1600" dirty="0">
                <a:solidFill>
                  <a:srgbClr val="272525"/>
                </a:solidFill>
                <a:latin typeface="Cambria Math" panose="02040503050406030204" pitchFamily="18" charset="0"/>
                <a:ea typeface="Cambria Math" panose="02040503050406030204" pitchFamily="18" charset="0"/>
                <a:cs typeface="Inter" pitchFamily="34" charset="-120"/>
              </a:rPr>
              <a:t>Users can paste articles, headlines, or website copy directly into the app for instant analysis. The pipeline normalizes the text, extracts features, and returns prediction labels and confidence scores to support quick review.</a:t>
            </a:r>
            <a:endParaRPr lang="en-US" sz="1600" dirty="0">
              <a:latin typeface="Cambria Math" panose="02040503050406030204" pitchFamily="18" charset="0"/>
              <a:ea typeface="Cambria Math" panose="02040503050406030204" pitchFamily="18" charset="0"/>
            </a:endParaRPr>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80190" y="4676894"/>
            <a:ext cx="421719" cy="421719"/>
          </a:xfrm>
          <a:prstGeom prst="rect">
            <a:avLst/>
          </a:prstGeom>
        </p:spPr>
      </p:pic>
      <p:sp>
        <p:nvSpPr>
          <p:cNvPr id="10" name="Text 5"/>
          <p:cNvSpPr/>
          <p:nvPr/>
        </p:nvSpPr>
        <p:spPr>
          <a:xfrm>
            <a:off x="6881098" y="4676894"/>
            <a:ext cx="2651760" cy="263485"/>
          </a:xfrm>
          <a:prstGeom prst="rect">
            <a:avLst/>
          </a:prstGeom>
          <a:noFill/>
          <a:ln/>
        </p:spPr>
        <p:txBody>
          <a:bodyPr wrap="none" lIns="0" tIns="0" rIns="0" bIns="0" rtlCol="0" anchor="t"/>
          <a:lstStyle/>
          <a:p>
            <a:pPr marL="0" indent="0" algn="l">
              <a:lnSpc>
                <a:spcPts val="2050"/>
              </a:lnSpc>
              <a:buNone/>
            </a:pPr>
            <a:r>
              <a:rPr lang="en-US" sz="1600" b="1" dirty="0">
                <a:solidFill>
                  <a:srgbClr val="272525"/>
                </a:solidFill>
                <a:latin typeface="Cambria Math" panose="02040503050406030204" pitchFamily="18" charset="0"/>
                <a:ea typeface="Cambria Math" panose="02040503050406030204" pitchFamily="18" charset="0"/>
                <a:cs typeface="Inter Bold" pitchFamily="34" charset="-120"/>
              </a:rPr>
              <a:t>Image Upload &amp; Detection</a:t>
            </a:r>
            <a:endParaRPr lang="en-US" sz="1600" dirty="0">
              <a:latin typeface="Cambria Math" panose="02040503050406030204" pitchFamily="18" charset="0"/>
              <a:ea typeface="Cambria Math" panose="02040503050406030204" pitchFamily="18" charset="0"/>
            </a:endParaRPr>
          </a:p>
        </p:txBody>
      </p:sp>
      <p:sp>
        <p:nvSpPr>
          <p:cNvPr id="11" name="Text 6"/>
          <p:cNvSpPr/>
          <p:nvPr/>
        </p:nvSpPr>
        <p:spPr>
          <a:xfrm>
            <a:off x="6881098" y="5026343"/>
            <a:ext cx="6955512" cy="749022"/>
          </a:xfrm>
          <a:prstGeom prst="rect">
            <a:avLst/>
          </a:prstGeom>
          <a:noFill/>
          <a:ln/>
        </p:spPr>
        <p:txBody>
          <a:bodyPr wrap="square" lIns="0" tIns="0" rIns="0" bIns="0" rtlCol="0" anchor="t"/>
          <a:lstStyle/>
          <a:p>
            <a:pPr marL="0" indent="0" algn="l">
              <a:lnSpc>
                <a:spcPts val="1950"/>
              </a:lnSpc>
              <a:buNone/>
            </a:pPr>
            <a:r>
              <a:rPr lang="en-US" sz="1600" dirty="0">
                <a:solidFill>
                  <a:srgbClr val="272525"/>
                </a:solidFill>
                <a:latin typeface="Cambria Math" panose="02040503050406030204" pitchFamily="18" charset="0"/>
                <a:ea typeface="Cambria Math" panose="02040503050406030204" pitchFamily="18" charset="0"/>
                <a:cs typeface="Inter" pitchFamily="34" charset="-120"/>
              </a:rPr>
              <a:t>Uploaded images are processed through a MobileNetV2-based detector that classifies them as real or fake. Preprocessing ensures consistent inference, making it useful for screenshots, social media images, and other suspicious visuals.</a:t>
            </a:r>
            <a:endParaRPr lang="en-US" sz="1600" dirty="0">
              <a:latin typeface="Cambria Math" panose="02040503050406030204" pitchFamily="18" charset="0"/>
              <a:ea typeface="Cambria Math" panose="02040503050406030204" pitchFamily="18" charset="0"/>
            </a:endParaRPr>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80190" y="6062067"/>
            <a:ext cx="421719" cy="421719"/>
          </a:xfrm>
          <a:prstGeom prst="rect">
            <a:avLst/>
          </a:prstGeom>
        </p:spPr>
      </p:pic>
      <p:sp>
        <p:nvSpPr>
          <p:cNvPr id="13" name="Text 7"/>
          <p:cNvSpPr/>
          <p:nvPr/>
        </p:nvSpPr>
        <p:spPr>
          <a:xfrm>
            <a:off x="6881098" y="6062067"/>
            <a:ext cx="2692598" cy="263485"/>
          </a:xfrm>
          <a:prstGeom prst="rect">
            <a:avLst/>
          </a:prstGeom>
          <a:noFill/>
          <a:ln/>
        </p:spPr>
        <p:txBody>
          <a:bodyPr wrap="none" lIns="0" tIns="0" rIns="0" bIns="0" rtlCol="0" anchor="t"/>
          <a:lstStyle/>
          <a:p>
            <a:pPr marL="0" indent="0" algn="l">
              <a:lnSpc>
                <a:spcPts val="2050"/>
              </a:lnSpc>
              <a:buNone/>
            </a:pPr>
            <a:r>
              <a:rPr lang="en-US" sz="1600" b="1" dirty="0">
                <a:solidFill>
                  <a:srgbClr val="272525"/>
                </a:solidFill>
                <a:latin typeface="Cambria Math" panose="02040503050406030204" pitchFamily="18" charset="0"/>
                <a:ea typeface="Cambria Math" panose="02040503050406030204" pitchFamily="18" charset="0"/>
                <a:cs typeface="Inter Bold" pitchFamily="34" charset="-120"/>
              </a:rPr>
              <a:t>Navigation &amp; Visualization</a:t>
            </a:r>
            <a:endParaRPr lang="en-US" sz="1600" dirty="0">
              <a:latin typeface="Cambria Math" panose="02040503050406030204" pitchFamily="18" charset="0"/>
              <a:ea typeface="Cambria Math" panose="02040503050406030204" pitchFamily="18" charset="0"/>
            </a:endParaRPr>
          </a:p>
        </p:txBody>
      </p:sp>
      <p:sp>
        <p:nvSpPr>
          <p:cNvPr id="14" name="Text 8"/>
          <p:cNvSpPr/>
          <p:nvPr/>
        </p:nvSpPr>
        <p:spPr>
          <a:xfrm>
            <a:off x="6881098" y="6411516"/>
            <a:ext cx="6955512" cy="749022"/>
          </a:xfrm>
          <a:prstGeom prst="rect">
            <a:avLst/>
          </a:prstGeom>
          <a:noFill/>
          <a:ln/>
        </p:spPr>
        <p:txBody>
          <a:bodyPr wrap="square" lIns="0" tIns="0" rIns="0" bIns="0" rtlCol="0" anchor="t"/>
          <a:lstStyle/>
          <a:p>
            <a:pPr marL="0" indent="0" algn="l">
              <a:lnSpc>
                <a:spcPts val="1950"/>
              </a:lnSpc>
              <a:buNone/>
            </a:pPr>
            <a:r>
              <a:rPr lang="en-US" sz="1600" dirty="0">
                <a:solidFill>
                  <a:srgbClr val="272525"/>
                </a:solidFill>
                <a:latin typeface="Cambria Math" panose="02040503050406030204" pitchFamily="18" charset="0"/>
                <a:ea typeface="Cambria Math" panose="02040503050406030204" pitchFamily="18" charset="0"/>
                <a:cs typeface="Inter" pitchFamily="34" charset="-120"/>
              </a:rPr>
              <a:t>A structured sidebar guides users through input, evaluation, and result review. Visual indicators and score summaries make outputs easy to interpret without requiring knowledge of the underlying model architecture.</a:t>
            </a:r>
            <a:endParaRPr lang="en-US" sz="1600" dirty="0">
              <a:latin typeface="Cambria Math" panose="02040503050406030204" pitchFamily="18" charset="0"/>
              <a:ea typeface="Cambria Math" panose="02040503050406030204" pitchFamily="18" charset="0"/>
            </a:endParaRPr>
          </a:p>
        </p:txBody>
      </p:sp>
      <p:pic>
        <p:nvPicPr>
          <p:cNvPr id="16" name="Picture 15">
            <a:extLst>
              <a:ext uri="{FF2B5EF4-FFF2-40B4-BE49-F238E27FC236}">
                <a16:creationId xmlns:a16="http://schemas.microsoft.com/office/drawing/2014/main" id="{8FD22C76-E3DE-6F3E-9924-E08C1C593902}"/>
              </a:ext>
            </a:extLst>
          </p:cNvPr>
          <p:cNvPicPr>
            <a:picLocks noChangeAspect="1"/>
          </p:cNvPicPr>
          <p:nvPr/>
        </p:nvPicPr>
        <p:blipFill>
          <a:blip r:embed="rId7"/>
          <a:stretch>
            <a:fillRect/>
          </a:stretch>
        </p:blipFill>
        <p:spPr>
          <a:xfrm>
            <a:off x="12174753" y="7796689"/>
            <a:ext cx="2339543" cy="39627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614363"/>
            <a:ext cx="2356842" cy="294680"/>
          </a:xfrm>
          <a:prstGeom prst="rect">
            <a:avLst/>
          </a:prstGeom>
          <a:noFill/>
          <a:ln/>
        </p:spPr>
        <p:txBody>
          <a:bodyPr wrap="none" lIns="0" tIns="0" rIns="0" bIns="0" rtlCol="0" anchor="t"/>
          <a:lstStyle/>
          <a:p>
            <a:pPr marL="0" indent="0" algn="l">
              <a:lnSpc>
                <a:spcPts val="2300"/>
              </a:lnSpc>
              <a:buNone/>
            </a:pPr>
            <a:r>
              <a:rPr lang="en-US" sz="2200" b="1" dirty="0">
                <a:solidFill>
                  <a:srgbClr val="000000"/>
                </a:solidFill>
                <a:latin typeface="Cambria Math" panose="02040503050406030204" pitchFamily="18" charset="0"/>
                <a:ea typeface="Cambria Math" panose="02040503050406030204" pitchFamily="18" charset="0"/>
                <a:cs typeface="Inter Bold" pitchFamily="34" charset="-120"/>
              </a:rPr>
              <a:t>Technology Stack</a:t>
            </a:r>
            <a:endParaRPr lang="en-US" sz="2200" dirty="0">
              <a:latin typeface="Cambria Math" panose="02040503050406030204" pitchFamily="18" charset="0"/>
              <a:ea typeface="Cambria Math" panose="02040503050406030204" pitchFamily="18" charset="0"/>
            </a:endParaRPr>
          </a:p>
        </p:txBody>
      </p:sp>
      <p:sp>
        <p:nvSpPr>
          <p:cNvPr id="3" name="Text 1"/>
          <p:cNvSpPr/>
          <p:nvPr/>
        </p:nvSpPr>
        <p:spPr>
          <a:xfrm>
            <a:off x="793790" y="980599"/>
            <a:ext cx="4713684" cy="589121"/>
          </a:xfrm>
          <a:prstGeom prst="rect">
            <a:avLst/>
          </a:prstGeom>
          <a:noFill/>
          <a:ln/>
        </p:spPr>
        <p:txBody>
          <a:bodyPr wrap="none" lIns="0" tIns="0" rIns="0" bIns="0" rtlCol="0" anchor="t"/>
          <a:lstStyle/>
          <a:p>
            <a:pPr marL="0" indent="0" algn="l">
              <a:lnSpc>
                <a:spcPts val="4600"/>
              </a:lnSpc>
              <a:buNone/>
            </a:pPr>
            <a:r>
              <a:rPr lang="en-US" b="1" dirty="0">
                <a:solidFill>
                  <a:srgbClr val="000000"/>
                </a:solidFill>
                <a:latin typeface="Cambria Math" panose="02040503050406030204" pitchFamily="18" charset="0"/>
                <a:ea typeface="Cambria Math" panose="02040503050406030204" pitchFamily="18" charset="0"/>
                <a:cs typeface="Inter Bold" pitchFamily="34" charset="-120"/>
              </a:rPr>
              <a:t>Tools &amp; Frameworks</a:t>
            </a:r>
            <a:endParaRPr lang="en-US" dirty="0">
              <a:latin typeface="Cambria Math" panose="02040503050406030204" pitchFamily="18" charset="0"/>
              <a:ea typeface="Cambria Math" panose="02040503050406030204" pitchFamily="18" charset="0"/>
            </a:endParaRPr>
          </a:p>
        </p:txBody>
      </p:sp>
      <p:sp>
        <p:nvSpPr>
          <p:cNvPr id="4" name="Shape 2"/>
          <p:cNvSpPr/>
          <p:nvPr/>
        </p:nvSpPr>
        <p:spPr>
          <a:xfrm>
            <a:off x="793790" y="2039779"/>
            <a:ext cx="3731300" cy="2367439"/>
          </a:xfrm>
          <a:prstGeom prst="roundRect">
            <a:avLst>
              <a:gd name="adj" fmla="val 4635"/>
            </a:avLst>
          </a:prstGeom>
          <a:solidFill>
            <a:srgbClr val="FFFFFF"/>
          </a:solidFill>
          <a:ln w="22860">
            <a:solidFill>
              <a:srgbClr val="C0C1D7"/>
            </a:solidFill>
            <a:prstDash val="solid"/>
          </a:ln>
        </p:spPr>
      </p:sp>
      <p:sp>
        <p:nvSpPr>
          <p:cNvPr id="5" name="Shape 3"/>
          <p:cNvSpPr/>
          <p:nvPr/>
        </p:nvSpPr>
        <p:spPr>
          <a:xfrm>
            <a:off x="770930" y="2039779"/>
            <a:ext cx="91440" cy="2367439"/>
          </a:xfrm>
          <a:prstGeom prst="roundRect">
            <a:avLst>
              <a:gd name="adj" fmla="val 86605"/>
            </a:avLst>
          </a:prstGeom>
          <a:solidFill>
            <a:srgbClr val="4950BC"/>
          </a:solidFill>
          <a:ln/>
        </p:spPr>
      </p:sp>
      <p:sp>
        <p:nvSpPr>
          <p:cNvPr id="6" name="Text 4"/>
          <p:cNvSpPr/>
          <p:nvPr/>
        </p:nvSpPr>
        <p:spPr>
          <a:xfrm>
            <a:off x="1073706" y="2251115"/>
            <a:ext cx="2356842" cy="294680"/>
          </a:xfrm>
          <a:prstGeom prst="rect">
            <a:avLst/>
          </a:prstGeom>
          <a:noFill/>
          <a:ln/>
        </p:spPr>
        <p:txBody>
          <a:bodyPr wrap="none" lIns="0" tIns="0" rIns="0" bIns="0" rtlCol="0" anchor="t"/>
          <a:lstStyle/>
          <a:p>
            <a:pPr marL="0" indent="0" algn="l">
              <a:lnSpc>
                <a:spcPts val="2300"/>
              </a:lnSpc>
              <a:buNone/>
            </a:pPr>
            <a:r>
              <a:rPr lang="en-US" sz="1600" b="1" dirty="0">
                <a:solidFill>
                  <a:srgbClr val="272525"/>
                </a:solidFill>
                <a:latin typeface="Cambria Math" panose="02040503050406030204" pitchFamily="18" charset="0"/>
                <a:ea typeface="Cambria Math" panose="02040503050406030204" pitchFamily="18" charset="0"/>
                <a:cs typeface="Inter Bold" pitchFamily="34" charset="-120"/>
              </a:rPr>
              <a:t>Core ML/DL</a:t>
            </a:r>
            <a:endParaRPr lang="en-US" sz="1600" dirty="0">
              <a:latin typeface="Cambria Math" panose="02040503050406030204" pitchFamily="18" charset="0"/>
              <a:ea typeface="Cambria Math" panose="02040503050406030204" pitchFamily="18" charset="0"/>
            </a:endParaRPr>
          </a:p>
        </p:txBody>
      </p:sp>
      <p:sp>
        <p:nvSpPr>
          <p:cNvPr id="7" name="Text 5"/>
          <p:cNvSpPr/>
          <p:nvPr/>
        </p:nvSpPr>
        <p:spPr>
          <a:xfrm>
            <a:off x="1073706" y="2724864"/>
            <a:ext cx="3240048" cy="1471017"/>
          </a:xfrm>
          <a:prstGeom prst="rect">
            <a:avLst/>
          </a:prstGeom>
          <a:noFill/>
          <a:ln/>
        </p:spPr>
        <p:txBody>
          <a:bodyPr wrap="square" lIns="0" tIns="0" rIns="0" bIns="0" rtlCol="0" anchor="t"/>
          <a:lstStyle/>
          <a:p>
            <a:pPr marL="0" indent="0" algn="l">
              <a:lnSpc>
                <a:spcPts val="2300"/>
              </a:lnSpc>
              <a:buNone/>
            </a:pPr>
            <a:r>
              <a:rPr lang="en-US" sz="1600" b="1" dirty="0">
                <a:solidFill>
                  <a:srgbClr val="272525"/>
                </a:solidFill>
                <a:latin typeface="Cambria Math" panose="02040503050406030204" pitchFamily="18" charset="0"/>
                <a:ea typeface="Cambria Math" panose="02040503050406030204" pitchFamily="18" charset="0"/>
                <a:cs typeface="Inter" pitchFamily="34" charset="-120"/>
              </a:rPr>
              <a:t>TensorFlow / Keras</a:t>
            </a:r>
            <a:r>
              <a:rPr lang="en-US" sz="1600" dirty="0">
                <a:solidFill>
                  <a:srgbClr val="272525"/>
                </a:solidFill>
                <a:latin typeface="Cambria Math" panose="02040503050406030204" pitchFamily="18" charset="0"/>
                <a:ea typeface="Cambria Math" panose="02040503050406030204" pitchFamily="18" charset="0"/>
                <a:cs typeface="Inter" pitchFamily="34" charset="-120"/>
              </a:rPr>
              <a:t> — model architecture, training loops, and transfer learning. </a:t>
            </a:r>
            <a:r>
              <a:rPr lang="en-US" sz="1600" b="1" dirty="0">
                <a:solidFill>
                  <a:srgbClr val="272525"/>
                </a:solidFill>
                <a:latin typeface="Cambria Math" panose="02040503050406030204" pitchFamily="18" charset="0"/>
                <a:ea typeface="Cambria Math" panose="02040503050406030204" pitchFamily="18" charset="0"/>
                <a:cs typeface="Inter" pitchFamily="34" charset="-120"/>
              </a:rPr>
              <a:t>Scikit-learn</a:t>
            </a:r>
            <a:r>
              <a:rPr lang="en-US" sz="1600" dirty="0">
                <a:solidFill>
                  <a:srgbClr val="272525"/>
                </a:solidFill>
                <a:latin typeface="Cambria Math" panose="02040503050406030204" pitchFamily="18" charset="0"/>
                <a:ea typeface="Cambria Math" panose="02040503050406030204" pitchFamily="18" charset="0"/>
                <a:cs typeface="Inter" pitchFamily="34" charset="-120"/>
              </a:rPr>
              <a:t> — preprocessing pipelines, evaluation metrics, and confusion matrices.</a:t>
            </a:r>
            <a:endParaRPr lang="en-US" sz="1600" dirty="0">
              <a:latin typeface="Cambria Math" panose="02040503050406030204" pitchFamily="18" charset="0"/>
              <a:ea typeface="Cambria Math" panose="02040503050406030204" pitchFamily="18" charset="0"/>
            </a:endParaRPr>
          </a:p>
        </p:txBody>
      </p:sp>
      <p:sp>
        <p:nvSpPr>
          <p:cNvPr id="8" name="Shape 6"/>
          <p:cNvSpPr/>
          <p:nvPr/>
        </p:nvSpPr>
        <p:spPr>
          <a:xfrm>
            <a:off x="4704159" y="2039779"/>
            <a:ext cx="3731300" cy="2367439"/>
          </a:xfrm>
          <a:prstGeom prst="roundRect">
            <a:avLst>
              <a:gd name="adj" fmla="val 4635"/>
            </a:avLst>
          </a:prstGeom>
          <a:solidFill>
            <a:srgbClr val="FFFFFF"/>
          </a:solidFill>
          <a:ln w="22860">
            <a:solidFill>
              <a:srgbClr val="C0C1D7"/>
            </a:solidFill>
            <a:prstDash val="solid"/>
          </a:ln>
        </p:spPr>
      </p:sp>
      <p:sp>
        <p:nvSpPr>
          <p:cNvPr id="9" name="Shape 7"/>
          <p:cNvSpPr/>
          <p:nvPr/>
        </p:nvSpPr>
        <p:spPr>
          <a:xfrm>
            <a:off x="4681299" y="2039779"/>
            <a:ext cx="91440" cy="2367439"/>
          </a:xfrm>
          <a:prstGeom prst="roundRect">
            <a:avLst>
              <a:gd name="adj" fmla="val 86605"/>
            </a:avLst>
          </a:prstGeom>
          <a:solidFill>
            <a:srgbClr val="4950BC"/>
          </a:solidFill>
          <a:ln/>
        </p:spPr>
      </p:sp>
      <p:sp>
        <p:nvSpPr>
          <p:cNvPr id="10" name="Text 8"/>
          <p:cNvSpPr/>
          <p:nvPr/>
        </p:nvSpPr>
        <p:spPr>
          <a:xfrm>
            <a:off x="4984075" y="2251115"/>
            <a:ext cx="2356842" cy="294680"/>
          </a:xfrm>
          <a:prstGeom prst="rect">
            <a:avLst/>
          </a:prstGeom>
          <a:noFill/>
          <a:ln/>
        </p:spPr>
        <p:txBody>
          <a:bodyPr wrap="none" lIns="0" tIns="0" rIns="0" bIns="0" rtlCol="0" anchor="t"/>
          <a:lstStyle/>
          <a:p>
            <a:pPr marL="0" indent="0" algn="l">
              <a:lnSpc>
                <a:spcPts val="2300"/>
              </a:lnSpc>
              <a:buNone/>
            </a:pPr>
            <a:r>
              <a:rPr lang="en-US" sz="1600" b="1" dirty="0">
                <a:solidFill>
                  <a:srgbClr val="272525"/>
                </a:solidFill>
                <a:latin typeface="Cambria Math" panose="02040503050406030204" pitchFamily="18" charset="0"/>
                <a:ea typeface="Cambria Math" panose="02040503050406030204" pitchFamily="18" charset="0"/>
                <a:cs typeface="Inter Bold" pitchFamily="34" charset="-120"/>
              </a:rPr>
              <a:t>NLP &amp; Embeddings</a:t>
            </a:r>
            <a:endParaRPr lang="en-US" sz="1600" dirty="0">
              <a:latin typeface="Cambria Math" panose="02040503050406030204" pitchFamily="18" charset="0"/>
              <a:ea typeface="Cambria Math" panose="02040503050406030204" pitchFamily="18" charset="0"/>
            </a:endParaRPr>
          </a:p>
        </p:txBody>
      </p:sp>
      <p:sp>
        <p:nvSpPr>
          <p:cNvPr id="11" name="Text 9"/>
          <p:cNvSpPr/>
          <p:nvPr/>
        </p:nvSpPr>
        <p:spPr>
          <a:xfrm>
            <a:off x="4984075" y="2724864"/>
            <a:ext cx="3240048" cy="1471017"/>
          </a:xfrm>
          <a:prstGeom prst="rect">
            <a:avLst/>
          </a:prstGeom>
          <a:noFill/>
          <a:ln/>
        </p:spPr>
        <p:txBody>
          <a:bodyPr wrap="square" lIns="0" tIns="0" rIns="0" bIns="0" rtlCol="0" anchor="t"/>
          <a:lstStyle/>
          <a:p>
            <a:pPr marL="0" indent="0" algn="l">
              <a:lnSpc>
                <a:spcPts val="2300"/>
              </a:lnSpc>
              <a:buNone/>
            </a:pPr>
            <a:r>
              <a:rPr lang="en-US" sz="1600" b="1" dirty="0">
                <a:solidFill>
                  <a:srgbClr val="272525"/>
                </a:solidFill>
                <a:latin typeface="Cambria Math" panose="02040503050406030204" pitchFamily="18" charset="0"/>
                <a:ea typeface="Cambria Math" panose="02040503050406030204" pitchFamily="18" charset="0"/>
                <a:cs typeface="Inter" pitchFamily="34" charset="-120"/>
              </a:rPr>
              <a:t>Gensim (Word2Vec)</a:t>
            </a:r>
            <a:r>
              <a:rPr lang="en-US" sz="1600" dirty="0">
                <a:solidFill>
                  <a:srgbClr val="272525"/>
                </a:solidFill>
                <a:latin typeface="Cambria Math" panose="02040503050406030204" pitchFamily="18" charset="0"/>
                <a:ea typeface="Cambria Math" panose="02040503050406030204" pitchFamily="18" charset="0"/>
                <a:cs typeface="Inter" pitchFamily="34" charset="-120"/>
              </a:rPr>
              <a:t> — semantic word embeddings for the dark pattern model. Standard tokenization and vectorization for the fake news classifier.</a:t>
            </a:r>
            <a:endParaRPr lang="en-US" sz="1600" dirty="0">
              <a:latin typeface="Cambria Math" panose="02040503050406030204" pitchFamily="18" charset="0"/>
              <a:ea typeface="Cambria Math" panose="02040503050406030204" pitchFamily="18" charset="0"/>
            </a:endParaRPr>
          </a:p>
        </p:txBody>
      </p:sp>
      <p:sp>
        <p:nvSpPr>
          <p:cNvPr id="12" name="Shape 10"/>
          <p:cNvSpPr/>
          <p:nvPr/>
        </p:nvSpPr>
        <p:spPr>
          <a:xfrm>
            <a:off x="793790" y="4586288"/>
            <a:ext cx="3731300" cy="2661642"/>
          </a:xfrm>
          <a:prstGeom prst="roundRect">
            <a:avLst>
              <a:gd name="adj" fmla="val 4123"/>
            </a:avLst>
          </a:prstGeom>
          <a:solidFill>
            <a:srgbClr val="FFFFFF"/>
          </a:solidFill>
          <a:ln w="22860">
            <a:solidFill>
              <a:srgbClr val="C0C1D7"/>
            </a:solidFill>
            <a:prstDash val="solid"/>
          </a:ln>
        </p:spPr>
      </p:sp>
      <p:sp>
        <p:nvSpPr>
          <p:cNvPr id="13" name="Shape 11"/>
          <p:cNvSpPr/>
          <p:nvPr/>
        </p:nvSpPr>
        <p:spPr>
          <a:xfrm>
            <a:off x="770930" y="4586288"/>
            <a:ext cx="91440" cy="2661642"/>
          </a:xfrm>
          <a:prstGeom prst="roundRect">
            <a:avLst>
              <a:gd name="adj" fmla="val 86605"/>
            </a:avLst>
          </a:prstGeom>
          <a:solidFill>
            <a:srgbClr val="4950BC"/>
          </a:solidFill>
          <a:ln/>
        </p:spPr>
      </p:sp>
      <p:sp>
        <p:nvSpPr>
          <p:cNvPr id="14" name="Text 12"/>
          <p:cNvSpPr/>
          <p:nvPr/>
        </p:nvSpPr>
        <p:spPr>
          <a:xfrm>
            <a:off x="1073706" y="4797623"/>
            <a:ext cx="2356842" cy="294680"/>
          </a:xfrm>
          <a:prstGeom prst="rect">
            <a:avLst/>
          </a:prstGeom>
          <a:noFill/>
          <a:ln/>
        </p:spPr>
        <p:txBody>
          <a:bodyPr wrap="none" lIns="0" tIns="0" rIns="0" bIns="0" rtlCol="0" anchor="t"/>
          <a:lstStyle/>
          <a:p>
            <a:pPr marL="0" indent="0" algn="l">
              <a:lnSpc>
                <a:spcPts val="2300"/>
              </a:lnSpc>
              <a:buNone/>
            </a:pPr>
            <a:r>
              <a:rPr lang="en-US" sz="1600" b="1" dirty="0">
                <a:solidFill>
                  <a:srgbClr val="272525"/>
                </a:solidFill>
                <a:latin typeface="Cambria Math" panose="02040503050406030204" pitchFamily="18" charset="0"/>
                <a:ea typeface="Cambria Math" panose="02040503050406030204" pitchFamily="18" charset="0"/>
                <a:cs typeface="Inter Bold" pitchFamily="34" charset="-120"/>
              </a:rPr>
              <a:t>Computer Vision</a:t>
            </a:r>
            <a:endParaRPr lang="en-US" sz="1600" dirty="0">
              <a:latin typeface="Cambria Math" panose="02040503050406030204" pitchFamily="18" charset="0"/>
              <a:ea typeface="Cambria Math" panose="02040503050406030204" pitchFamily="18" charset="0"/>
            </a:endParaRPr>
          </a:p>
        </p:txBody>
      </p:sp>
      <p:sp>
        <p:nvSpPr>
          <p:cNvPr id="15" name="Text 13"/>
          <p:cNvSpPr/>
          <p:nvPr/>
        </p:nvSpPr>
        <p:spPr>
          <a:xfrm>
            <a:off x="1073706" y="5271373"/>
            <a:ext cx="3240048" cy="1765221"/>
          </a:xfrm>
          <a:prstGeom prst="rect">
            <a:avLst/>
          </a:prstGeom>
          <a:noFill/>
          <a:ln/>
        </p:spPr>
        <p:txBody>
          <a:bodyPr wrap="square" lIns="0" tIns="0" rIns="0" bIns="0" rtlCol="0" anchor="t"/>
          <a:lstStyle/>
          <a:p>
            <a:pPr marL="0" indent="0" algn="l">
              <a:lnSpc>
                <a:spcPts val="2300"/>
              </a:lnSpc>
              <a:buNone/>
            </a:pPr>
            <a:r>
              <a:rPr lang="en-US" sz="1600" b="1" dirty="0">
                <a:solidFill>
                  <a:srgbClr val="272525"/>
                </a:solidFill>
                <a:latin typeface="Cambria Math" panose="02040503050406030204" pitchFamily="18" charset="0"/>
                <a:ea typeface="Cambria Math" panose="02040503050406030204" pitchFamily="18" charset="0"/>
                <a:cs typeface="Inter" pitchFamily="34" charset="-120"/>
              </a:rPr>
              <a:t>OpenCV</a:t>
            </a:r>
            <a:r>
              <a:rPr lang="en-US" sz="1600" dirty="0">
                <a:solidFill>
                  <a:srgbClr val="272525"/>
                </a:solidFill>
                <a:latin typeface="Cambria Math" panose="02040503050406030204" pitchFamily="18" charset="0"/>
                <a:ea typeface="Cambria Math" panose="02040503050406030204" pitchFamily="18" charset="0"/>
                <a:cs typeface="Inter" pitchFamily="34" charset="-120"/>
              </a:rPr>
              <a:t> — image loading, resizing to 224×224, and pixel normalization prior to MobileNetV2 inference. Essential for consistent preprocessing across the CASIA dataset.</a:t>
            </a:r>
            <a:endParaRPr lang="en-US" sz="1600" dirty="0">
              <a:latin typeface="Cambria Math" panose="02040503050406030204" pitchFamily="18" charset="0"/>
              <a:ea typeface="Cambria Math" panose="02040503050406030204" pitchFamily="18" charset="0"/>
            </a:endParaRPr>
          </a:p>
        </p:txBody>
      </p:sp>
      <p:sp>
        <p:nvSpPr>
          <p:cNvPr id="16" name="Shape 14"/>
          <p:cNvSpPr/>
          <p:nvPr/>
        </p:nvSpPr>
        <p:spPr>
          <a:xfrm>
            <a:off x="4704159" y="4586288"/>
            <a:ext cx="3731300" cy="2661642"/>
          </a:xfrm>
          <a:prstGeom prst="roundRect">
            <a:avLst>
              <a:gd name="adj" fmla="val 4123"/>
            </a:avLst>
          </a:prstGeom>
          <a:solidFill>
            <a:srgbClr val="FFFFFF"/>
          </a:solidFill>
          <a:ln w="22860">
            <a:solidFill>
              <a:srgbClr val="C0C1D7"/>
            </a:solidFill>
            <a:prstDash val="solid"/>
          </a:ln>
        </p:spPr>
      </p:sp>
      <p:sp>
        <p:nvSpPr>
          <p:cNvPr id="17" name="Shape 15"/>
          <p:cNvSpPr/>
          <p:nvPr/>
        </p:nvSpPr>
        <p:spPr>
          <a:xfrm>
            <a:off x="4681299" y="4586288"/>
            <a:ext cx="91440" cy="2661642"/>
          </a:xfrm>
          <a:prstGeom prst="roundRect">
            <a:avLst>
              <a:gd name="adj" fmla="val 86605"/>
            </a:avLst>
          </a:prstGeom>
          <a:solidFill>
            <a:srgbClr val="4950BC"/>
          </a:solidFill>
          <a:ln/>
        </p:spPr>
      </p:sp>
      <p:sp>
        <p:nvSpPr>
          <p:cNvPr id="18" name="Text 16"/>
          <p:cNvSpPr/>
          <p:nvPr/>
        </p:nvSpPr>
        <p:spPr>
          <a:xfrm>
            <a:off x="4984075" y="4797623"/>
            <a:ext cx="2356842" cy="294680"/>
          </a:xfrm>
          <a:prstGeom prst="rect">
            <a:avLst/>
          </a:prstGeom>
          <a:noFill/>
          <a:ln/>
        </p:spPr>
        <p:txBody>
          <a:bodyPr wrap="none" lIns="0" tIns="0" rIns="0" bIns="0" rtlCol="0" anchor="t"/>
          <a:lstStyle/>
          <a:p>
            <a:pPr marL="0" indent="0" algn="l">
              <a:lnSpc>
                <a:spcPts val="2300"/>
              </a:lnSpc>
              <a:buNone/>
            </a:pPr>
            <a:r>
              <a:rPr lang="en-US" sz="1600" b="1" dirty="0">
                <a:solidFill>
                  <a:srgbClr val="272525"/>
                </a:solidFill>
                <a:latin typeface="Cambria Math" panose="02040503050406030204" pitchFamily="18" charset="0"/>
                <a:ea typeface="Cambria Math" panose="02040503050406030204" pitchFamily="18" charset="0"/>
                <a:cs typeface="Inter Bold" pitchFamily="34" charset="-120"/>
              </a:rPr>
              <a:t>Frontend &amp; Data</a:t>
            </a:r>
            <a:endParaRPr lang="en-US" sz="1600" dirty="0">
              <a:latin typeface="Cambria Math" panose="02040503050406030204" pitchFamily="18" charset="0"/>
              <a:ea typeface="Cambria Math" panose="02040503050406030204" pitchFamily="18" charset="0"/>
            </a:endParaRPr>
          </a:p>
        </p:txBody>
      </p:sp>
      <p:sp>
        <p:nvSpPr>
          <p:cNvPr id="19" name="Text 17"/>
          <p:cNvSpPr/>
          <p:nvPr/>
        </p:nvSpPr>
        <p:spPr>
          <a:xfrm>
            <a:off x="4984075" y="5271373"/>
            <a:ext cx="3240048" cy="1471017"/>
          </a:xfrm>
          <a:prstGeom prst="rect">
            <a:avLst/>
          </a:prstGeom>
          <a:noFill/>
          <a:ln/>
        </p:spPr>
        <p:txBody>
          <a:bodyPr wrap="square" lIns="0" tIns="0" rIns="0" bIns="0" rtlCol="0" anchor="t"/>
          <a:lstStyle/>
          <a:p>
            <a:pPr marL="0" indent="0" algn="l">
              <a:lnSpc>
                <a:spcPts val="2300"/>
              </a:lnSpc>
              <a:buNone/>
            </a:pPr>
            <a:r>
              <a:rPr lang="en-US" sz="1600" b="1" dirty="0">
                <a:solidFill>
                  <a:srgbClr val="272525"/>
                </a:solidFill>
                <a:latin typeface="Cambria Math" panose="02040503050406030204" pitchFamily="18" charset="0"/>
                <a:ea typeface="Cambria Math" panose="02040503050406030204" pitchFamily="18" charset="0"/>
                <a:cs typeface="Inter" pitchFamily="34" charset="-120"/>
              </a:rPr>
              <a:t>Streamlit</a:t>
            </a:r>
            <a:r>
              <a:rPr lang="en-US" sz="1600" dirty="0">
                <a:solidFill>
                  <a:srgbClr val="272525"/>
                </a:solidFill>
                <a:latin typeface="Cambria Math" panose="02040503050406030204" pitchFamily="18" charset="0"/>
                <a:ea typeface="Cambria Math" panose="02040503050406030204" pitchFamily="18" charset="0"/>
                <a:cs typeface="Inter" pitchFamily="34" charset="-120"/>
              </a:rPr>
              <a:t> — interactive web UI with no frontend code required. </a:t>
            </a:r>
            <a:r>
              <a:rPr lang="en-US" sz="1600" b="1" dirty="0">
                <a:solidFill>
                  <a:srgbClr val="272525"/>
                </a:solidFill>
                <a:latin typeface="Cambria Math" panose="02040503050406030204" pitchFamily="18" charset="0"/>
                <a:ea typeface="Cambria Math" panose="02040503050406030204" pitchFamily="18" charset="0"/>
                <a:cs typeface="Inter" pitchFamily="34" charset="-120"/>
              </a:rPr>
              <a:t>Pandas &amp; NumPy</a:t>
            </a:r>
            <a:r>
              <a:rPr lang="en-US" sz="1600" dirty="0">
                <a:solidFill>
                  <a:srgbClr val="272525"/>
                </a:solidFill>
                <a:latin typeface="Cambria Math" panose="02040503050406030204" pitchFamily="18" charset="0"/>
                <a:ea typeface="Cambria Math" panose="02040503050406030204" pitchFamily="18" charset="0"/>
                <a:cs typeface="Inter" pitchFamily="34" charset="-120"/>
              </a:rPr>
              <a:t> — data manipulation, cleaning, and numerical operations throughout the pipeline.</a:t>
            </a:r>
            <a:endParaRPr lang="en-US" sz="1600" dirty="0">
              <a:latin typeface="Cambria Math" panose="02040503050406030204" pitchFamily="18" charset="0"/>
              <a:ea typeface="Cambria Math" panose="02040503050406030204" pitchFamily="18" charset="0"/>
            </a:endParaRPr>
          </a:p>
        </p:txBody>
      </p:sp>
      <p:sp>
        <p:nvSpPr>
          <p:cNvPr id="20" name="Text 18"/>
          <p:cNvSpPr/>
          <p:nvPr/>
        </p:nvSpPr>
        <p:spPr>
          <a:xfrm>
            <a:off x="8903137" y="2017395"/>
            <a:ext cx="2356842" cy="294680"/>
          </a:xfrm>
          <a:prstGeom prst="rect">
            <a:avLst/>
          </a:prstGeom>
          <a:noFill/>
          <a:ln/>
        </p:spPr>
        <p:txBody>
          <a:bodyPr wrap="none" lIns="0" tIns="0" rIns="0" bIns="0" rtlCol="0" anchor="t"/>
          <a:lstStyle/>
          <a:p>
            <a:pPr marL="0" indent="0" algn="l">
              <a:lnSpc>
                <a:spcPts val="2300"/>
              </a:lnSpc>
              <a:buNone/>
            </a:pPr>
            <a:r>
              <a:rPr lang="en-US" sz="1600" b="1" dirty="0">
                <a:solidFill>
                  <a:srgbClr val="000000"/>
                </a:solidFill>
                <a:latin typeface="Cambria Math" panose="02040503050406030204" pitchFamily="18" charset="0"/>
                <a:ea typeface="Cambria Math" panose="02040503050406030204" pitchFamily="18" charset="0"/>
                <a:cs typeface="Inter Bold" pitchFamily="34" charset="-120"/>
              </a:rPr>
              <a:t>Why This Stack?</a:t>
            </a:r>
            <a:endParaRPr lang="en-US" sz="1600" dirty="0">
              <a:latin typeface="Cambria Math" panose="02040503050406030204" pitchFamily="18" charset="0"/>
              <a:ea typeface="Cambria Math" panose="02040503050406030204" pitchFamily="18" charset="0"/>
            </a:endParaRPr>
          </a:p>
        </p:txBody>
      </p:sp>
      <p:sp>
        <p:nvSpPr>
          <p:cNvPr id="21" name="Text 19"/>
          <p:cNvSpPr/>
          <p:nvPr/>
        </p:nvSpPr>
        <p:spPr>
          <a:xfrm>
            <a:off x="8903137" y="2491145"/>
            <a:ext cx="4941094" cy="882610"/>
          </a:xfrm>
          <a:prstGeom prst="rect">
            <a:avLst/>
          </a:prstGeom>
          <a:noFill/>
          <a:ln/>
        </p:spPr>
        <p:txBody>
          <a:bodyPr wrap="square" lIns="0" tIns="0" rIns="0" bIns="0" rtlCol="0" anchor="t"/>
          <a:lstStyle/>
          <a:p>
            <a:pPr marL="0" indent="0" algn="l">
              <a:lnSpc>
                <a:spcPts val="2300"/>
              </a:lnSpc>
              <a:buNone/>
            </a:pPr>
            <a:r>
              <a:rPr lang="en-US" sz="1600" dirty="0">
                <a:solidFill>
                  <a:srgbClr val="272525"/>
                </a:solidFill>
                <a:latin typeface="Cambria Math" panose="02040503050406030204" pitchFamily="18" charset="0"/>
                <a:ea typeface="Cambria Math" panose="02040503050406030204" pitchFamily="18" charset="0"/>
                <a:cs typeface="Inter" pitchFamily="34" charset="-120"/>
              </a:rPr>
              <a:t>Each tool was chosen for its maturity, community support, and suitability for rapid prototyping without sacrificing production-quality performance.</a:t>
            </a:r>
            <a:endParaRPr lang="en-US" sz="1600" dirty="0">
              <a:latin typeface="Cambria Math" panose="02040503050406030204" pitchFamily="18" charset="0"/>
              <a:ea typeface="Cambria Math" panose="02040503050406030204" pitchFamily="18" charset="0"/>
            </a:endParaRPr>
          </a:p>
        </p:txBody>
      </p:sp>
      <p:sp>
        <p:nvSpPr>
          <p:cNvPr id="22" name="Shape 20"/>
          <p:cNvSpPr/>
          <p:nvPr/>
        </p:nvSpPr>
        <p:spPr>
          <a:xfrm>
            <a:off x="8903137" y="3575209"/>
            <a:ext cx="4941094" cy="1160145"/>
          </a:xfrm>
          <a:prstGeom prst="roundRect">
            <a:avLst>
              <a:gd name="adj" fmla="val 6826"/>
            </a:avLst>
          </a:prstGeom>
          <a:solidFill>
            <a:srgbClr val="DADBF1"/>
          </a:solidFill>
          <a:ln w="7620">
            <a:solidFill>
              <a:srgbClr val="C0C1D7"/>
            </a:solidFill>
            <a:prstDash val="solid"/>
          </a:ln>
        </p:spPr>
      </p:sp>
      <p:sp>
        <p:nvSpPr>
          <p:cNvPr id="23" name="Text 21"/>
          <p:cNvSpPr/>
          <p:nvPr/>
        </p:nvSpPr>
        <p:spPr>
          <a:xfrm>
            <a:off x="9099233" y="3771305"/>
            <a:ext cx="2356842" cy="294680"/>
          </a:xfrm>
          <a:prstGeom prst="rect">
            <a:avLst/>
          </a:prstGeom>
          <a:noFill/>
          <a:ln/>
        </p:spPr>
        <p:txBody>
          <a:bodyPr wrap="none" lIns="0" tIns="0" rIns="0" bIns="0" rtlCol="0" anchor="t"/>
          <a:lstStyle/>
          <a:p>
            <a:pPr marL="0" indent="0" algn="l">
              <a:lnSpc>
                <a:spcPts val="2300"/>
              </a:lnSpc>
              <a:buNone/>
            </a:pPr>
            <a:r>
              <a:rPr lang="en-US" sz="1600" b="1" dirty="0">
                <a:solidFill>
                  <a:srgbClr val="272525"/>
                </a:solidFill>
                <a:latin typeface="Cambria Math" panose="02040503050406030204" pitchFamily="18" charset="0"/>
                <a:ea typeface="Cambria Math" panose="02040503050406030204" pitchFamily="18" charset="0"/>
                <a:cs typeface="Inter Bold" pitchFamily="34" charset="-120"/>
              </a:rPr>
              <a:t>Python</a:t>
            </a:r>
            <a:endParaRPr lang="en-US" sz="1600" dirty="0">
              <a:latin typeface="Cambria Math" panose="02040503050406030204" pitchFamily="18" charset="0"/>
              <a:ea typeface="Cambria Math" panose="02040503050406030204" pitchFamily="18" charset="0"/>
            </a:endParaRPr>
          </a:p>
        </p:txBody>
      </p:sp>
      <p:sp>
        <p:nvSpPr>
          <p:cNvPr id="24" name="Text 22"/>
          <p:cNvSpPr/>
          <p:nvPr/>
        </p:nvSpPr>
        <p:spPr>
          <a:xfrm>
            <a:off x="9099233" y="4245054"/>
            <a:ext cx="4548902" cy="294203"/>
          </a:xfrm>
          <a:prstGeom prst="rect">
            <a:avLst/>
          </a:prstGeom>
          <a:noFill/>
          <a:ln/>
        </p:spPr>
        <p:txBody>
          <a:bodyPr wrap="none" lIns="0" tIns="0" rIns="0" bIns="0" rtlCol="0" anchor="t"/>
          <a:lstStyle/>
          <a:p>
            <a:pPr marL="0" indent="0" algn="l">
              <a:lnSpc>
                <a:spcPts val="2300"/>
              </a:lnSpc>
              <a:buNone/>
            </a:pPr>
            <a:r>
              <a:rPr lang="en-US" sz="1600" dirty="0">
                <a:solidFill>
                  <a:srgbClr val="272525"/>
                </a:solidFill>
                <a:latin typeface="Cambria Math" panose="02040503050406030204" pitchFamily="18" charset="0"/>
                <a:ea typeface="Cambria Math" panose="02040503050406030204" pitchFamily="18" charset="0"/>
                <a:cs typeface="Inter" pitchFamily="34" charset="-120"/>
              </a:rPr>
              <a:t>Universal ML language with rich ecosystem</a:t>
            </a:r>
            <a:endParaRPr lang="en-US" sz="1600" dirty="0">
              <a:latin typeface="Cambria Math" panose="02040503050406030204" pitchFamily="18" charset="0"/>
              <a:ea typeface="Cambria Math" panose="02040503050406030204" pitchFamily="18" charset="0"/>
            </a:endParaRPr>
          </a:p>
        </p:txBody>
      </p:sp>
      <p:sp>
        <p:nvSpPr>
          <p:cNvPr id="25" name="Shape 23"/>
          <p:cNvSpPr/>
          <p:nvPr/>
        </p:nvSpPr>
        <p:spPr>
          <a:xfrm>
            <a:off x="8903137" y="4914424"/>
            <a:ext cx="4941094" cy="1160145"/>
          </a:xfrm>
          <a:prstGeom prst="roundRect">
            <a:avLst>
              <a:gd name="adj" fmla="val 6826"/>
            </a:avLst>
          </a:prstGeom>
          <a:solidFill>
            <a:srgbClr val="DADBF1"/>
          </a:solidFill>
          <a:ln w="7620">
            <a:solidFill>
              <a:srgbClr val="C0C1D7"/>
            </a:solidFill>
            <a:prstDash val="solid"/>
          </a:ln>
        </p:spPr>
      </p:sp>
      <p:sp>
        <p:nvSpPr>
          <p:cNvPr id="26" name="Text 24"/>
          <p:cNvSpPr/>
          <p:nvPr/>
        </p:nvSpPr>
        <p:spPr>
          <a:xfrm>
            <a:off x="9099233" y="5110520"/>
            <a:ext cx="2356842" cy="294680"/>
          </a:xfrm>
          <a:prstGeom prst="rect">
            <a:avLst/>
          </a:prstGeom>
          <a:noFill/>
          <a:ln/>
        </p:spPr>
        <p:txBody>
          <a:bodyPr wrap="none" lIns="0" tIns="0" rIns="0" bIns="0" rtlCol="0" anchor="t"/>
          <a:lstStyle/>
          <a:p>
            <a:pPr marL="0" indent="0" algn="l">
              <a:lnSpc>
                <a:spcPts val="2300"/>
              </a:lnSpc>
              <a:buNone/>
            </a:pPr>
            <a:r>
              <a:rPr lang="en-US" sz="1600" b="1" dirty="0">
                <a:solidFill>
                  <a:srgbClr val="272525"/>
                </a:solidFill>
                <a:latin typeface="Cambria Math" panose="02040503050406030204" pitchFamily="18" charset="0"/>
                <a:ea typeface="Cambria Math" panose="02040503050406030204" pitchFamily="18" charset="0"/>
                <a:cs typeface="Inter Bold" pitchFamily="34" charset="-120"/>
              </a:rPr>
              <a:t>MobileNetV2</a:t>
            </a:r>
            <a:endParaRPr lang="en-US" sz="1600" dirty="0">
              <a:latin typeface="Cambria Math" panose="02040503050406030204" pitchFamily="18" charset="0"/>
              <a:ea typeface="Cambria Math" panose="02040503050406030204" pitchFamily="18" charset="0"/>
            </a:endParaRPr>
          </a:p>
        </p:txBody>
      </p:sp>
      <p:sp>
        <p:nvSpPr>
          <p:cNvPr id="27" name="Text 25"/>
          <p:cNvSpPr/>
          <p:nvPr/>
        </p:nvSpPr>
        <p:spPr>
          <a:xfrm>
            <a:off x="9099233" y="5584269"/>
            <a:ext cx="4548902" cy="294203"/>
          </a:xfrm>
          <a:prstGeom prst="rect">
            <a:avLst/>
          </a:prstGeom>
          <a:noFill/>
          <a:ln/>
        </p:spPr>
        <p:txBody>
          <a:bodyPr wrap="none" lIns="0" tIns="0" rIns="0" bIns="0" rtlCol="0" anchor="t"/>
          <a:lstStyle/>
          <a:p>
            <a:pPr marL="0" indent="0" algn="l">
              <a:lnSpc>
                <a:spcPts val="2300"/>
              </a:lnSpc>
              <a:buNone/>
            </a:pPr>
            <a:r>
              <a:rPr lang="en-US" sz="1600" dirty="0">
                <a:solidFill>
                  <a:srgbClr val="272525"/>
                </a:solidFill>
                <a:latin typeface="Cambria Math" panose="02040503050406030204" pitchFamily="18" charset="0"/>
                <a:ea typeface="Cambria Math" panose="02040503050406030204" pitchFamily="18" charset="0"/>
                <a:cs typeface="Inter" pitchFamily="34" charset="-120"/>
              </a:rPr>
              <a:t>Lightweight CNN, ideal for fast inference</a:t>
            </a:r>
            <a:endParaRPr lang="en-US" sz="1600" dirty="0">
              <a:latin typeface="Cambria Math" panose="02040503050406030204" pitchFamily="18" charset="0"/>
              <a:ea typeface="Cambria Math" panose="02040503050406030204" pitchFamily="18" charset="0"/>
            </a:endParaRPr>
          </a:p>
        </p:txBody>
      </p:sp>
      <p:sp>
        <p:nvSpPr>
          <p:cNvPr id="28" name="Shape 26"/>
          <p:cNvSpPr/>
          <p:nvPr/>
        </p:nvSpPr>
        <p:spPr>
          <a:xfrm>
            <a:off x="8903137" y="6253639"/>
            <a:ext cx="4941094" cy="1160145"/>
          </a:xfrm>
          <a:prstGeom prst="roundRect">
            <a:avLst>
              <a:gd name="adj" fmla="val 6826"/>
            </a:avLst>
          </a:prstGeom>
          <a:solidFill>
            <a:srgbClr val="DADBF1"/>
          </a:solidFill>
          <a:ln w="7620">
            <a:solidFill>
              <a:srgbClr val="C0C1D7"/>
            </a:solidFill>
            <a:prstDash val="solid"/>
          </a:ln>
        </p:spPr>
      </p:sp>
      <p:sp>
        <p:nvSpPr>
          <p:cNvPr id="29" name="Text 27"/>
          <p:cNvSpPr/>
          <p:nvPr/>
        </p:nvSpPr>
        <p:spPr>
          <a:xfrm>
            <a:off x="9099233" y="6449735"/>
            <a:ext cx="2356842" cy="294680"/>
          </a:xfrm>
          <a:prstGeom prst="rect">
            <a:avLst/>
          </a:prstGeom>
          <a:noFill/>
          <a:ln/>
        </p:spPr>
        <p:txBody>
          <a:bodyPr wrap="none" lIns="0" tIns="0" rIns="0" bIns="0" rtlCol="0" anchor="t"/>
          <a:lstStyle/>
          <a:p>
            <a:pPr marL="0" indent="0" algn="l">
              <a:lnSpc>
                <a:spcPts val="2300"/>
              </a:lnSpc>
              <a:buNone/>
            </a:pPr>
            <a:r>
              <a:rPr lang="en-US" sz="1600" b="1" dirty="0">
                <a:solidFill>
                  <a:srgbClr val="272525"/>
                </a:solidFill>
                <a:latin typeface="Cambria Math" panose="02040503050406030204" pitchFamily="18" charset="0"/>
                <a:ea typeface="Cambria Math" panose="02040503050406030204" pitchFamily="18" charset="0"/>
                <a:cs typeface="Inter Bold" pitchFamily="34" charset="-120"/>
              </a:rPr>
              <a:t>Streamlit</a:t>
            </a:r>
            <a:endParaRPr lang="en-US" sz="1600" dirty="0">
              <a:latin typeface="Cambria Math" panose="02040503050406030204" pitchFamily="18" charset="0"/>
              <a:ea typeface="Cambria Math" panose="02040503050406030204" pitchFamily="18" charset="0"/>
            </a:endParaRPr>
          </a:p>
        </p:txBody>
      </p:sp>
      <p:sp>
        <p:nvSpPr>
          <p:cNvPr id="30" name="Text 28"/>
          <p:cNvSpPr/>
          <p:nvPr/>
        </p:nvSpPr>
        <p:spPr>
          <a:xfrm>
            <a:off x="9099233" y="6923484"/>
            <a:ext cx="4548902" cy="294203"/>
          </a:xfrm>
          <a:prstGeom prst="rect">
            <a:avLst/>
          </a:prstGeom>
          <a:noFill/>
          <a:ln/>
        </p:spPr>
        <p:txBody>
          <a:bodyPr wrap="none" lIns="0" tIns="0" rIns="0" bIns="0" rtlCol="0" anchor="t"/>
          <a:lstStyle/>
          <a:p>
            <a:pPr marL="0" indent="0" algn="l">
              <a:lnSpc>
                <a:spcPts val="2300"/>
              </a:lnSpc>
              <a:buNone/>
            </a:pPr>
            <a:r>
              <a:rPr lang="en-US" sz="1600" dirty="0">
                <a:solidFill>
                  <a:srgbClr val="272525"/>
                </a:solidFill>
                <a:latin typeface="Cambria Math" panose="02040503050406030204" pitchFamily="18" charset="0"/>
                <a:ea typeface="Cambria Math" panose="02040503050406030204" pitchFamily="18" charset="0"/>
                <a:cs typeface="Inter" pitchFamily="34" charset="-120"/>
              </a:rPr>
              <a:t>Zero-friction deployment for ML apps</a:t>
            </a:r>
            <a:endParaRPr lang="en-US" sz="1600" dirty="0">
              <a:latin typeface="Cambria Math" panose="02040503050406030204" pitchFamily="18" charset="0"/>
              <a:ea typeface="Cambria Math" panose="02040503050406030204" pitchFamily="18" charset="0"/>
            </a:endParaRPr>
          </a:p>
        </p:txBody>
      </p:sp>
      <p:pic>
        <p:nvPicPr>
          <p:cNvPr id="32" name="Picture 31">
            <a:extLst>
              <a:ext uri="{FF2B5EF4-FFF2-40B4-BE49-F238E27FC236}">
                <a16:creationId xmlns:a16="http://schemas.microsoft.com/office/drawing/2014/main" id="{26AB04DF-62C5-4B3E-427B-6D1656E70CA3}"/>
              </a:ext>
            </a:extLst>
          </p:cNvPr>
          <p:cNvPicPr>
            <a:picLocks noChangeAspect="1"/>
          </p:cNvPicPr>
          <p:nvPr/>
        </p:nvPicPr>
        <p:blipFill>
          <a:blip r:embed="rId3"/>
          <a:stretch>
            <a:fillRect/>
          </a:stretch>
        </p:blipFill>
        <p:spPr>
          <a:xfrm>
            <a:off x="12290857" y="7706405"/>
            <a:ext cx="2339543" cy="39627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1665684"/>
          </a:xfrm>
          <a:prstGeom prst="rect">
            <a:avLst/>
          </a:prstGeom>
        </p:spPr>
      </p:pic>
      <p:sp>
        <p:nvSpPr>
          <p:cNvPr id="3" name="Text 0"/>
          <p:cNvSpPr/>
          <p:nvPr/>
        </p:nvSpPr>
        <p:spPr>
          <a:xfrm>
            <a:off x="761405" y="2399586"/>
            <a:ext cx="1876306" cy="208121"/>
          </a:xfrm>
          <a:prstGeom prst="rect">
            <a:avLst/>
          </a:prstGeom>
          <a:noFill/>
          <a:ln/>
        </p:spPr>
        <p:txBody>
          <a:bodyPr wrap="none" lIns="0" tIns="0" rIns="0" bIns="0" rtlCol="0" anchor="t"/>
          <a:lstStyle/>
          <a:p>
            <a:pPr marL="0" indent="0" algn="l">
              <a:lnSpc>
                <a:spcPts val="1600"/>
              </a:lnSpc>
              <a:buNone/>
            </a:pPr>
            <a:r>
              <a:rPr lang="en-US" sz="2200" b="1" dirty="0">
                <a:solidFill>
                  <a:srgbClr val="000000"/>
                </a:solidFill>
                <a:latin typeface="Cambria Math" panose="02040503050406030204" pitchFamily="18" charset="0"/>
                <a:ea typeface="Cambria Math" panose="02040503050406030204" pitchFamily="18" charset="0"/>
                <a:cs typeface="Inter Bold" pitchFamily="34" charset="-120"/>
              </a:rPr>
              <a:t>Conclusion &amp; Roadmap</a:t>
            </a:r>
            <a:endParaRPr lang="en-US" sz="2200" dirty="0">
              <a:latin typeface="Cambria Math" panose="02040503050406030204" pitchFamily="18" charset="0"/>
              <a:ea typeface="Cambria Math" panose="02040503050406030204" pitchFamily="18" charset="0"/>
            </a:endParaRPr>
          </a:p>
        </p:txBody>
      </p:sp>
      <p:sp>
        <p:nvSpPr>
          <p:cNvPr id="4" name="Text 1"/>
          <p:cNvSpPr/>
          <p:nvPr/>
        </p:nvSpPr>
        <p:spPr>
          <a:xfrm>
            <a:off x="761405" y="2643426"/>
            <a:ext cx="6924675" cy="416362"/>
          </a:xfrm>
          <a:prstGeom prst="rect">
            <a:avLst/>
          </a:prstGeom>
          <a:noFill/>
          <a:ln/>
        </p:spPr>
        <p:txBody>
          <a:bodyPr wrap="none" lIns="0" tIns="0" rIns="0" bIns="0" rtlCol="0" anchor="t"/>
          <a:lstStyle/>
          <a:p>
            <a:pPr marL="0" indent="0" algn="l">
              <a:lnSpc>
                <a:spcPts val="3250"/>
              </a:lnSpc>
              <a:buNone/>
            </a:pPr>
            <a:r>
              <a:rPr lang="en-US" sz="1600" b="1" dirty="0">
                <a:solidFill>
                  <a:srgbClr val="000000"/>
                </a:solidFill>
                <a:latin typeface="Cambria Math" panose="02040503050406030204" pitchFamily="18" charset="0"/>
                <a:ea typeface="Cambria Math" panose="02040503050406030204" pitchFamily="18" charset="0"/>
                <a:cs typeface="Inter Bold" pitchFamily="34" charset="-120"/>
              </a:rPr>
              <a:t>What We Built — and Where We're Headed</a:t>
            </a:r>
            <a:endParaRPr lang="en-US" sz="1600" dirty="0">
              <a:latin typeface="Cambria Math" panose="02040503050406030204" pitchFamily="18" charset="0"/>
              <a:ea typeface="Cambria Math" panose="02040503050406030204" pitchFamily="18" charset="0"/>
            </a:endParaRPr>
          </a:p>
        </p:txBody>
      </p:sp>
      <p:sp>
        <p:nvSpPr>
          <p:cNvPr id="5" name="Text 2"/>
          <p:cNvSpPr/>
          <p:nvPr/>
        </p:nvSpPr>
        <p:spPr>
          <a:xfrm>
            <a:off x="761405" y="3197425"/>
            <a:ext cx="1942743" cy="208121"/>
          </a:xfrm>
          <a:prstGeom prst="rect">
            <a:avLst/>
          </a:prstGeom>
          <a:noFill/>
          <a:ln/>
        </p:spPr>
        <p:txBody>
          <a:bodyPr wrap="none" lIns="0" tIns="0" rIns="0" bIns="0" rtlCol="0" anchor="t"/>
          <a:lstStyle/>
          <a:p>
            <a:pPr marL="0" indent="0" algn="l">
              <a:lnSpc>
                <a:spcPts val="1600"/>
              </a:lnSpc>
              <a:buNone/>
            </a:pPr>
            <a:r>
              <a:rPr lang="en-US" sz="1500" b="1" dirty="0">
                <a:solidFill>
                  <a:srgbClr val="000000"/>
                </a:solidFill>
                <a:latin typeface="Cambria Math" panose="02040503050406030204" pitchFamily="18" charset="0"/>
                <a:ea typeface="Cambria Math" panose="02040503050406030204" pitchFamily="18" charset="0"/>
                <a:cs typeface="Inter Bold" pitchFamily="34" charset="-120"/>
              </a:rPr>
              <a:t>What We Accomplished</a:t>
            </a:r>
            <a:endParaRPr lang="en-US" sz="1500" dirty="0">
              <a:latin typeface="Cambria Math" panose="02040503050406030204" pitchFamily="18" charset="0"/>
              <a:ea typeface="Cambria Math" panose="02040503050406030204" pitchFamily="18" charset="0"/>
            </a:endParaRPr>
          </a:p>
        </p:txBody>
      </p:sp>
      <p:sp>
        <p:nvSpPr>
          <p:cNvPr id="6" name="Text 3"/>
          <p:cNvSpPr/>
          <p:nvPr/>
        </p:nvSpPr>
        <p:spPr>
          <a:xfrm>
            <a:off x="761405" y="3580924"/>
            <a:ext cx="5048012" cy="1500544"/>
          </a:xfrm>
          <a:prstGeom prst="rect">
            <a:avLst/>
          </a:prstGeom>
          <a:noFill/>
          <a:ln/>
        </p:spPr>
        <p:txBody>
          <a:bodyPr wrap="square" lIns="0" tIns="0" rIns="0" bIns="0" rtlCol="0" anchor="t"/>
          <a:lstStyle/>
          <a:p>
            <a:pPr marL="342900" indent="-342900" algn="l">
              <a:lnSpc>
                <a:spcPts val="1400"/>
              </a:lnSpc>
              <a:buSzPct val="100000"/>
              <a:buChar char="•"/>
            </a:pPr>
            <a:r>
              <a:rPr lang="en-US" sz="1600" dirty="0">
                <a:solidFill>
                  <a:srgbClr val="272525"/>
                </a:solidFill>
                <a:latin typeface="Cambria Math" panose="02040503050406030204" pitchFamily="18" charset="0"/>
                <a:ea typeface="Cambria Math" panose="02040503050406030204" pitchFamily="18" charset="0"/>
                <a:cs typeface="Inter" pitchFamily="34" charset="-120"/>
              </a:rPr>
              <a:t>Built a fully functional multi-modal AI integrity system</a:t>
            </a:r>
          </a:p>
          <a:p>
            <a:pPr algn="l">
              <a:lnSpc>
                <a:spcPts val="1400"/>
              </a:lnSpc>
              <a:buSzPct val="100000"/>
            </a:pPr>
            <a:endParaRPr lang="en-US" sz="1600" dirty="0">
              <a:latin typeface="Cambria Math" panose="02040503050406030204" pitchFamily="18" charset="0"/>
              <a:ea typeface="Cambria Math" panose="02040503050406030204" pitchFamily="18" charset="0"/>
            </a:endParaRPr>
          </a:p>
          <a:p>
            <a:pPr marL="342900" indent="-342900" algn="l">
              <a:lnSpc>
                <a:spcPts val="1400"/>
              </a:lnSpc>
              <a:buSzPct val="100000"/>
              <a:buChar char="•"/>
            </a:pPr>
            <a:r>
              <a:rPr lang="en-US" sz="1600" dirty="0">
                <a:solidFill>
                  <a:srgbClr val="272525"/>
                </a:solidFill>
                <a:latin typeface="Cambria Math" panose="02040503050406030204" pitchFamily="18" charset="0"/>
                <a:ea typeface="Cambria Math" panose="02040503050406030204" pitchFamily="18" charset="0"/>
                <a:cs typeface="Inter" pitchFamily="34" charset="-120"/>
              </a:rPr>
              <a:t>Three independent classifiers: text, UX, and image</a:t>
            </a:r>
          </a:p>
          <a:p>
            <a:pPr marL="342900" indent="-342900" algn="l">
              <a:lnSpc>
                <a:spcPts val="1400"/>
              </a:lnSpc>
              <a:buSzPct val="100000"/>
              <a:buChar char="•"/>
            </a:pPr>
            <a:endParaRPr lang="en-US" sz="1600" dirty="0">
              <a:latin typeface="Cambria Math" panose="02040503050406030204" pitchFamily="18" charset="0"/>
              <a:ea typeface="Cambria Math" panose="02040503050406030204" pitchFamily="18" charset="0"/>
            </a:endParaRPr>
          </a:p>
          <a:p>
            <a:pPr marL="342900" indent="-342900" algn="l">
              <a:lnSpc>
                <a:spcPts val="1400"/>
              </a:lnSpc>
              <a:buSzPct val="100000"/>
              <a:buChar char="•"/>
            </a:pPr>
            <a:r>
              <a:rPr lang="en-US" sz="1600" dirty="0">
                <a:solidFill>
                  <a:srgbClr val="272525"/>
                </a:solidFill>
                <a:latin typeface="Cambria Math" panose="02040503050406030204" pitchFamily="18" charset="0"/>
                <a:ea typeface="Cambria Math" panose="02040503050406030204" pitchFamily="18" charset="0"/>
                <a:cs typeface="Inter" pitchFamily="34" charset="-120"/>
              </a:rPr>
              <a:t>Unified Integrity Score with interpretable trust bands</a:t>
            </a:r>
          </a:p>
          <a:p>
            <a:pPr algn="l">
              <a:lnSpc>
                <a:spcPts val="1400"/>
              </a:lnSpc>
              <a:buSzPct val="100000"/>
            </a:pPr>
            <a:endParaRPr lang="en-US" sz="1600" dirty="0">
              <a:latin typeface="Cambria Math" panose="02040503050406030204" pitchFamily="18" charset="0"/>
              <a:ea typeface="Cambria Math" panose="02040503050406030204" pitchFamily="18" charset="0"/>
            </a:endParaRPr>
          </a:p>
          <a:p>
            <a:pPr marL="342900" indent="-342900" algn="l">
              <a:lnSpc>
                <a:spcPts val="1400"/>
              </a:lnSpc>
              <a:buSzPct val="100000"/>
              <a:buChar char="•"/>
            </a:pPr>
            <a:r>
              <a:rPr lang="en-US" sz="1600" dirty="0">
                <a:solidFill>
                  <a:srgbClr val="272525"/>
                </a:solidFill>
                <a:latin typeface="Cambria Math" panose="02040503050406030204" pitchFamily="18" charset="0"/>
                <a:ea typeface="Cambria Math" panose="02040503050406030204" pitchFamily="18" charset="0"/>
                <a:cs typeface="Inter" pitchFamily="34" charset="-120"/>
              </a:rPr>
              <a:t>Combined NLP + Deep Learning + Computer Vision</a:t>
            </a:r>
            <a:endParaRPr lang="en-US" sz="1600" dirty="0">
              <a:latin typeface="Cambria Math" panose="02040503050406030204" pitchFamily="18" charset="0"/>
              <a:ea typeface="Cambria Math" panose="02040503050406030204" pitchFamily="18" charset="0"/>
            </a:endParaRPr>
          </a:p>
          <a:p>
            <a:pPr marL="342900" indent="-342900" algn="l">
              <a:lnSpc>
                <a:spcPts val="1400"/>
              </a:lnSpc>
              <a:buSzPct val="100000"/>
              <a:buChar char="•"/>
            </a:pPr>
            <a:r>
              <a:rPr lang="en-US" sz="1600" dirty="0">
                <a:solidFill>
                  <a:srgbClr val="272525"/>
                </a:solidFill>
                <a:latin typeface="Cambria Math" panose="02040503050406030204" pitchFamily="18" charset="0"/>
                <a:ea typeface="Cambria Math" panose="02040503050406030204" pitchFamily="18" charset="0"/>
                <a:cs typeface="Inter" pitchFamily="34" charset="-120"/>
              </a:rPr>
              <a:t>Deployed as an interactive Streamlit application</a:t>
            </a:r>
            <a:endParaRPr lang="en-US" sz="1600" dirty="0">
              <a:latin typeface="Cambria Math" panose="02040503050406030204" pitchFamily="18" charset="0"/>
              <a:ea typeface="Cambria Math" panose="02040503050406030204" pitchFamily="18" charset="0"/>
            </a:endParaRPr>
          </a:p>
        </p:txBody>
      </p:sp>
      <p:sp>
        <p:nvSpPr>
          <p:cNvPr id="7" name="Shape 4"/>
          <p:cNvSpPr/>
          <p:nvPr/>
        </p:nvSpPr>
        <p:spPr>
          <a:xfrm>
            <a:off x="6084212" y="2671389"/>
            <a:ext cx="8412837" cy="5096113"/>
          </a:xfrm>
          <a:prstGeom prst="roundRect">
            <a:avLst>
              <a:gd name="adj" fmla="val 2230"/>
            </a:avLst>
          </a:prstGeom>
          <a:solidFill>
            <a:srgbClr val="AFCBF8"/>
          </a:solidFill>
          <a:ln/>
        </p:spPr>
      </p:sp>
      <p:sp>
        <p:nvSpPr>
          <p:cNvPr id="8" name="Text 5"/>
          <p:cNvSpPr/>
          <p:nvPr/>
        </p:nvSpPr>
        <p:spPr>
          <a:xfrm>
            <a:off x="6179344" y="3283387"/>
            <a:ext cx="1775936" cy="208121"/>
          </a:xfrm>
          <a:prstGeom prst="rect">
            <a:avLst/>
          </a:prstGeom>
          <a:noFill/>
          <a:ln/>
        </p:spPr>
        <p:txBody>
          <a:bodyPr wrap="none" lIns="0" tIns="0" rIns="0" bIns="0" rtlCol="0" anchor="t"/>
          <a:lstStyle/>
          <a:p>
            <a:pPr marL="0" indent="0" algn="l">
              <a:lnSpc>
                <a:spcPts val="1600"/>
              </a:lnSpc>
              <a:buNone/>
            </a:pPr>
            <a:r>
              <a:rPr lang="en-US" sz="1300" b="1" dirty="0">
                <a:solidFill>
                  <a:srgbClr val="000000"/>
                </a:solidFill>
                <a:latin typeface="Cambria Math" panose="02040503050406030204" pitchFamily="18" charset="0"/>
                <a:ea typeface="Cambria Math" panose="02040503050406030204" pitchFamily="18" charset="0"/>
                <a:cs typeface="Inter Bold" pitchFamily="34" charset="-120"/>
              </a:rPr>
              <a:t>Future Enhancements</a:t>
            </a:r>
            <a:endParaRPr lang="en-US" sz="1300" dirty="0">
              <a:latin typeface="Cambria Math" panose="02040503050406030204" pitchFamily="18" charset="0"/>
              <a:ea typeface="Cambria Math" panose="02040503050406030204" pitchFamily="18" charset="0"/>
            </a:endParaRPr>
          </a:p>
        </p:txBody>
      </p:sp>
      <p:sp>
        <p:nvSpPr>
          <p:cNvPr id="9" name="Text 6"/>
          <p:cNvSpPr/>
          <p:nvPr/>
        </p:nvSpPr>
        <p:spPr>
          <a:xfrm>
            <a:off x="6179344" y="3592116"/>
            <a:ext cx="133231" cy="166568"/>
          </a:xfrm>
          <a:prstGeom prst="rect">
            <a:avLst/>
          </a:prstGeom>
          <a:noFill/>
          <a:ln/>
        </p:spPr>
        <p:txBody>
          <a:bodyPr wrap="none" lIns="0" tIns="0" rIns="0" bIns="0" rtlCol="0" anchor="t"/>
          <a:lstStyle/>
          <a:p>
            <a:pPr marL="0" indent="0" algn="l">
              <a:lnSpc>
                <a:spcPts val="1400"/>
              </a:lnSpc>
              <a:buNone/>
            </a:pPr>
            <a:r>
              <a:rPr lang="en-US" sz="1300" dirty="0">
                <a:solidFill>
                  <a:srgbClr val="272525"/>
                </a:solidFill>
                <a:latin typeface="Cambria Math" panose="02040503050406030204" pitchFamily="18" charset="0"/>
                <a:ea typeface="Cambria Math" panose="02040503050406030204" pitchFamily="18" charset="0"/>
                <a:cs typeface="Inter Light" pitchFamily="34" charset="-120"/>
              </a:rPr>
              <a:t>01</a:t>
            </a:r>
            <a:endParaRPr lang="en-US" sz="1300" dirty="0">
              <a:latin typeface="Cambria Math" panose="02040503050406030204" pitchFamily="18" charset="0"/>
              <a:ea typeface="Cambria Math" panose="02040503050406030204" pitchFamily="18" charset="0"/>
            </a:endParaRPr>
          </a:p>
        </p:txBody>
      </p:sp>
      <p:sp>
        <p:nvSpPr>
          <p:cNvPr id="10" name="Shape 7"/>
          <p:cNvSpPr/>
          <p:nvPr/>
        </p:nvSpPr>
        <p:spPr>
          <a:xfrm>
            <a:off x="6179344" y="3803213"/>
            <a:ext cx="7660005" cy="15240"/>
          </a:xfrm>
          <a:prstGeom prst="rect">
            <a:avLst/>
          </a:prstGeom>
          <a:solidFill>
            <a:srgbClr val="4950BC"/>
          </a:solidFill>
          <a:ln/>
        </p:spPr>
      </p:sp>
      <p:sp>
        <p:nvSpPr>
          <p:cNvPr id="11" name="Text 8"/>
          <p:cNvSpPr/>
          <p:nvPr/>
        </p:nvSpPr>
        <p:spPr>
          <a:xfrm>
            <a:off x="6179344" y="3900249"/>
            <a:ext cx="1665684" cy="208121"/>
          </a:xfrm>
          <a:prstGeom prst="rect">
            <a:avLst/>
          </a:prstGeom>
          <a:noFill/>
          <a:ln/>
        </p:spPr>
        <p:txBody>
          <a:bodyPr wrap="none" lIns="0" tIns="0" rIns="0" bIns="0" rtlCol="0" anchor="t"/>
          <a:lstStyle/>
          <a:p>
            <a:pPr marL="0" indent="0" algn="l">
              <a:lnSpc>
                <a:spcPts val="1600"/>
              </a:lnSpc>
              <a:buNone/>
            </a:pPr>
            <a:r>
              <a:rPr lang="en-US" sz="1300" b="1" dirty="0">
                <a:solidFill>
                  <a:srgbClr val="272525"/>
                </a:solidFill>
                <a:latin typeface="Cambria Math" panose="02040503050406030204" pitchFamily="18" charset="0"/>
                <a:ea typeface="Cambria Math" panose="02040503050406030204" pitchFamily="18" charset="0"/>
                <a:cs typeface="Inter Bold" pitchFamily="34" charset="-120"/>
              </a:rPr>
              <a:t>BERT Integration</a:t>
            </a:r>
            <a:endParaRPr lang="en-US" sz="1300" dirty="0">
              <a:latin typeface="Cambria Math" panose="02040503050406030204" pitchFamily="18" charset="0"/>
              <a:ea typeface="Cambria Math" panose="02040503050406030204" pitchFamily="18" charset="0"/>
            </a:endParaRPr>
          </a:p>
        </p:txBody>
      </p:sp>
      <p:sp>
        <p:nvSpPr>
          <p:cNvPr id="12" name="Text 9"/>
          <p:cNvSpPr/>
          <p:nvPr/>
        </p:nvSpPr>
        <p:spPr>
          <a:xfrm>
            <a:off x="6179344" y="4197787"/>
            <a:ext cx="7660005" cy="178118"/>
          </a:xfrm>
          <a:prstGeom prst="rect">
            <a:avLst/>
          </a:prstGeom>
          <a:noFill/>
          <a:ln/>
        </p:spPr>
        <p:txBody>
          <a:bodyPr wrap="none" lIns="0" tIns="0" rIns="0" bIns="0" rtlCol="0" anchor="t"/>
          <a:lstStyle/>
          <a:p>
            <a:pPr marL="0" indent="0" algn="l">
              <a:lnSpc>
                <a:spcPts val="1400"/>
              </a:lnSpc>
              <a:buNone/>
            </a:pPr>
            <a:r>
              <a:rPr lang="en-US" sz="1300" dirty="0">
                <a:solidFill>
                  <a:srgbClr val="272525"/>
                </a:solidFill>
                <a:latin typeface="Cambria Math" panose="02040503050406030204" pitchFamily="18" charset="0"/>
                <a:ea typeface="Cambria Math" panose="02040503050406030204" pitchFamily="18" charset="0"/>
                <a:cs typeface="Inter" pitchFamily="34" charset="-120"/>
              </a:rPr>
              <a:t>Replace bag-of-words with transformer-based embeddings for state-of-the-art fake news detection accuracy.</a:t>
            </a:r>
            <a:endParaRPr lang="en-US" sz="1300" dirty="0">
              <a:latin typeface="Cambria Math" panose="02040503050406030204" pitchFamily="18" charset="0"/>
              <a:ea typeface="Cambria Math" panose="02040503050406030204" pitchFamily="18" charset="0"/>
            </a:endParaRPr>
          </a:p>
        </p:txBody>
      </p:sp>
      <p:sp>
        <p:nvSpPr>
          <p:cNvPr id="13" name="Text 10"/>
          <p:cNvSpPr/>
          <p:nvPr/>
        </p:nvSpPr>
        <p:spPr>
          <a:xfrm>
            <a:off x="6179344" y="4565213"/>
            <a:ext cx="133231" cy="166568"/>
          </a:xfrm>
          <a:prstGeom prst="rect">
            <a:avLst/>
          </a:prstGeom>
          <a:noFill/>
          <a:ln/>
        </p:spPr>
        <p:txBody>
          <a:bodyPr wrap="none" lIns="0" tIns="0" rIns="0" bIns="0" rtlCol="0" anchor="t"/>
          <a:lstStyle/>
          <a:p>
            <a:pPr marL="0" indent="0" algn="l">
              <a:lnSpc>
                <a:spcPts val="1400"/>
              </a:lnSpc>
              <a:buNone/>
            </a:pPr>
            <a:r>
              <a:rPr lang="en-US" sz="1300" dirty="0">
                <a:solidFill>
                  <a:srgbClr val="272525"/>
                </a:solidFill>
                <a:latin typeface="Cambria Math" panose="02040503050406030204" pitchFamily="18" charset="0"/>
                <a:ea typeface="Cambria Math" panose="02040503050406030204" pitchFamily="18" charset="0"/>
                <a:cs typeface="Inter Light" pitchFamily="34" charset="-120"/>
              </a:rPr>
              <a:t>02</a:t>
            </a:r>
            <a:endParaRPr lang="en-US" sz="1300" dirty="0">
              <a:latin typeface="Cambria Math" panose="02040503050406030204" pitchFamily="18" charset="0"/>
              <a:ea typeface="Cambria Math" panose="02040503050406030204" pitchFamily="18" charset="0"/>
            </a:endParaRPr>
          </a:p>
        </p:txBody>
      </p:sp>
      <p:sp>
        <p:nvSpPr>
          <p:cNvPr id="14" name="Shape 11"/>
          <p:cNvSpPr/>
          <p:nvPr/>
        </p:nvSpPr>
        <p:spPr>
          <a:xfrm>
            <a:off x="6179344" y="4776311"/>
            <a:ext cx="7660005" cy="15240"/>
          </a:xfrm>
          <a:prstGeom prst="rect">
            <a:avLst/>
          </a:prstGeom>
          <a:solidFill>
            <a:srgbClr val="4950BC"/>
          </a:solidFill>
          <a:ln/>
        </p:spPr>
      </p:sp>
      <p:sp>
        <p:nvSpPr>
          <p:cNvPr id="15" name="Text 12"/>
          <p:cNvSpPr/>
          <p:nvPr/>
        </p:nvSpPr>
        <p:spPr>
          <a:xfrm>
            <a:off x="6179344" y="4873347"/>
            <a:ext cx="2002036" cy="208121"/>
          </a:xfrm>
          <a:prstGeom prst="rect">
            <a:avLst/>
          </a:prstGeom>
          <a:noFill/>
          <a:ln/>
        </p:spPr>
        <p:txBody>
          <a:bodyPr wrap="none" lIns="0" tIns="0" rIns="0" bIns="0" rtlCol="0" anchor="t"/>
          <a:lstStyle/>
          <a:p>
            <a:pPr marL="0" indent="0" algn="l">
              <a:lnSpc>
                <a:spcPts val="1600"/>
              </a:lnSpc>
              <a:buNone/>
            </a:pPr>
            <a:r>
              <a:rPr lang="en-US" sz="1300" b="1" dirty="0">
                <a:solidFill>
                  <a:srgbClr val="272525"/>
                </a:solidFill>
                <a:latin typeface="Cambria Math" panose="02040503050406030204" pitchFamily="18" charset="0"/>
                <a:ea typeface="Cambria Math" panose="02040503050406030204" pitchFamily="18" charset="0"/>
                <a:cs typeface="Inter Bold" pitchFamily="34" charset="-120"/>
              </a:rPr>
              <a:t>Grad-CAM Explainability</a:t>
            </a:r>
            <a:endParaRPr lang="en-US" sz="1300" dirty="0">
              <a:latin typeface="Cambria Math" panose="02040503050406030204" pitchFamily="18" charset="0"/>
              <a:ea typeface="Cambria Math" panose="02040503050406030204" pitchFamily="18" charset="0"/>
            </a:endParaRPr>
          </a:p>
        </p:txBody>
      </p:sp>
      <p:sp>
        <p:nvSpPr>
          <p:cNvPr id="16" name="Text 13"/>
          <p:cNvSpPr/>
          <p:nvPr/>
        </p:nvSpPr>
        <p:spPr>
          <a:xfrm>
            <a:off x="6179344" y="5170883"/>
            <a:ext cx="7660005" cy="367427"/>
          </a:xfrm>
          <a:prstGeom prst="rect">
            <a:avLst/>
          </a:prstGeom>
          <a:noFill/>
          <a:ln/>
        </p:spPr>
        <p:txBody>
          <a:bodyPr wrap="none" lIns="0" tIns="0" rIns="0" bIns="0" rtlCol="0" anchor="t"/>
          <a:lstStyle/>
          <a:p>
            <a:pPr marL="0" indent="0" algn="l">
              <a:lnSpc>
                <a:spcPts val="1400"/>
              </a:lnSpc>
              <a:buNone/>
            </a:pPr>
            <a:r>
              <a:rPr lang="en-US" sz="1300" dirty="0">
                <a:solidFill>
                  <a:srgbClr val="272525"/>
                </a:solidFill>
                <a:latin typeface="Cambria Math" panose="02040503050406030204" pitchFamily="18" charset="0"/>
                <a:ea typeface="Cambria Math" panose="02040503050406030204" pitchFamily="18" charset="0"/>
                <a:cs typeface="Inter" pitchFamily="34" charset="-120"/>
              </a:rPr>
              <a:t>Add visual heatmaps to highlight which image regions triggered the deepfake classification improving transparency.</a:t>
            </a:r>
            <a:endParaRPr lang="en-US" sz="1300" dirty="0">
              <a:latin typeface="Cambria Math" panose="02040503050406030204" pitchFamily="18" charset="0"/>
              <a:ea typeface="Cambria Math" panose="02040503050406030204" pitchFamily="18" charset="0"/>
            </a:endParaRPr>
          </a:p>
        </p:txBody>
      </p:sp>
      <p:sp>
        <p:nvSpPr>
          <p:cNvPr id="17" name="Text 14"/>
          <p:cNvSpPr/>
          <p:nvPr/>
        </p:nvSpPr>
        <p:spPr>
          <a:xfrm>
            <a:off x="6179344" y="5538311"/>
            <a:ext cx="133231" cy="166568"/>
          </a:xfrm>
          <a:prstGeom prst="rect">
            <a:avLst/>
          </a:prstGeom>
          <a:noFill/>
          <a:ln/>
        </p:spPr>
        <p:txBody>
          <a:bodyPr wrap="none" lIns="0" tIns="0" rIns="0" bIns="0" rtlCol="0" anchor="t"/>
          <a:lstStyle/>
          <a:p>
            <a:pPr marL="0" indent="0" algn="l">
              <a:lnSpc>
                <a:spcPts val="1400"/>
              </a:lnSpc>
              <a:buNone/>
            </a:pPr>
            <a:r>
              <a:rPr lang="en-US" sz="1300" dirty="0">
                <a:solidFill>
                  <a:srgbClr val="272525"/>
                </a:solidFill>
                <a:latin typeface="Cambria Math" panose="02040503050406030204" pitchFamily="18" charset="0"/>
                <a:ea typeface="Cambria Math" panose="02040503050406030204" pitchFamily="18" charset="0"/>
                <a:cs typeface="Inter Light" pitchFamily="34" charset="-120"/>
              </a:rPr>
              <a:t>03</a:t>
            </a:r>
            <a:endParaRPr lang="en-US" sz="1300" dirty="0">
              <a:latin typeface="Cambria Math" panose="02040503050406030204" pitchFamily="18" charset="0"/>
              <a:ea typeface="Cambria Math" panose="02040503050406030204" pitchFamily="18" charset="0"/>
            </a:endParaRPr>
          </a:p>
        </p:txBody>
      </p:sp>
      <p:sp>
        <p:nvSpPr>
          <p:cNvPr id="18" name="Shape 15"/>
          <p:cNvSpPr/>
          <p:nvPr/>
        </p:nvSpPr>
        <p:spPr>
          <a:xfrm>
            <a:off x="6179344" y="5749409"/>
            <a:ext cx="7660005" cy="15240"/>
          </a:xfrm>
          <a:prstGeom prst="rect">
            <a:avLst/>
          </a:prstGeom>
          <a:solidFill>
            <a:srgbClr val="4950BC"/>
          </a:solidFill>
          <a:ln/>
        </p:spPr>
      </p:sp>
      <p:sp>
        <p:nvSpPr>
          <p:cNvPr id="19" name="Text 16"/>
          <p:cNvSpPr/>
          <p:nvPr/>
        </p:nvSpPr>
        <p:spPr>
          <a:xfrm>
            <a:off x="6179344" y="5846445"/>
            <a:ext cx="1665684" cy="208121"/>
          </a:xfrm>
          <a:prstGeom prst="rect">
            <a:avLst/>
          </a:prstGeom>
          <a:noFill/>
          <a:ln/>
        </p:spPr>
        <p:txBody>
          <a:bodyPr wrap="none" lIns="0" tIns="0" rIns="0" bIns="0" rtlCol="0" anchor="t"/>
          <a:lstStyle/>
          <a:p>
            <a:pPr marL="0" indent="0" algn="l">
              <a:lnSpc>
                <a:spcPts val="1600"/>
              </a:lnSpc>
              <a:buNone/>
            </a:pPr>
            <a:r>
              <a:rPr lang="en-US" sz="1300" b="1" dirty="0">
                <a:solidFill>
                  <a:srgbClr val="272525"/>
                </a:solidFill>
                <a:latin typeface="Cambria Math" panose="02040503050406030204" pitchFamily="18" charset="0"/>
                <a:ea typeface="Cambria Math" panose="02040503050406030204" pitchFamily="18" charset="0"/>
                <a:cs typeface="Inter Bold" pitchFamily="34" charset="-120"/>
              </a:rPr>
              <a:t>Cloud Deployment</a:t>
            </a:r>
            <a:endParaRPr lang="en-US" sz="1300" dirty="0">
              <a:latin typeface="Cambria Math" panose="02040503050406030204" pitchFamily="18" charset="0"/>
              <a:ea typeface="Cambria Math" panose="02040503050406030204" pitchFamily="18" charset="0"/>
            </a:endParaRPr>
          </a:p>
        </p:txBody>
      </p:sp>
      <p:sp>
        <p:nvSpPr>
          <p:cNvPr id="20" name="Text 17"/>
          <p:cNvSpPr/>
          <p:nvPr/>
        </p:nvSpPr>
        <p:spPr>
          <a:xfrm>
            <a:off x="6179344" y="6143982"/>
            <a:ext cx="7660005" cy="178118"/>
          </a:xfrm>
          <a:prstGeom prst="rect">
            <a:avLst/>
          </a:prstGeom>
          <a:noFill/>
          <a:ln/>
        </p:spPr>
        <p:txBody>
          <a:bodyPr wrap="none" lIns="0" tIns="0" rIns="0" bIns="0" rtlCol="0" anchor="t"/>
          <a:lstStyle/>
          <a:p>
            <a:pPr marL="0" indent="0" algn="l">
              <a:lnSpc>
                <a:spcPts val="1400"/>
              </a:lnSpc>
              <a:buNone/>
            </a:pPr>
            <a:r>
              <a:rPr lang="en-US" sz="1300" dirty="0">
                <a:solidFill>
                  <a:srgbClr val="272525"/>
                </a:solidFill>
                <a:latin typeface="Cambria Math" panose="02040503050406030204" pitchFamily="18" charset="0"/>
                <a:ea typeface="Cambria Math" panose="02040503050406030204" pitchFamily="18" charset="0"/>
                <a:cs typeface="Inter" pitchFamily="34" charset="-120"/>
              </a:rPr>
              <a:t>Host as a scalable web service with API endpoints for integration into browsers, CMS platforms, &amp; content pipelines.</a:t>
            </a:r>
            <a:endParaRPr lang="en-US" sz="1300" dirty="0">
              <a:latin typeface="Cambria Math" panose="02040503050406030204" pitchFamily="18" charset="0"/>
              <a:ea typeface="Cambria Math" panose="02040503050406030204" pitchFamily="18" charset="0"/>
            </a:endParaRPr>
          </a:p>
        </p:txBody>
      </p:sp>
      <p:sp>
        <p:nvSpPr>
          <p:cNvPr id="21" name="Text 18"/>
          <p:cNvSpPr/>
          <p:nvPr/>
        </p:nvSpPr>
        <p:spPr>
          <a:xfrm>
            <a:off x="6179344" y="6511409"/>
            <a:ext cx="133231" cy="166568"/>
          </a:xfrm>
          <a:prstGeom prst="rect">
            <a:avLst/>
          </a:prstGeom>
          <a:noFill/>
          <a:ln/>
        </p:spPr>
        <p:txBody>
          <a:bodyPr wrap="none" lIns="0" tIns="0" rIns="0" bIns="0" rtlCol="0" anchor="t"/>
          <a:lstStyle/>
          <a:p>
            <a:pPr marL="0" indent="0" algn="l">
              <a:lnSpc>
                <a:spcPts val="1400"/>
              </a:lnSpc>
              <a:buNone/>
            </a:pPr>
            <a:r>
              <a:rPr lang="en-US" sz="1300" dirty="0">
                <a:solidFill>
                  <a:srgbClr val="272525"/>
                </a:solidFill>
                <a:latin typeface="Cambria Math" panose="02040503050406030204" pitchFamily="18" charset="0"/>
                <a:ea typeface="Cambria Math" panose="02040503050406030204" pitchFamily="18" charset="0"/>
                <a:cs typeface="Inter Light" pitchFamily="34" charset="-120"/>
              </a:rPr>
              <a:t>04</a:t>
            </a:r>
            <a:endParaRPr lang="en-US" sz="1300" dirty="0">
              <a:latin typeface="Cambria Math" panose="02040503050406030204" pitchFamily="18" charset="0"/>
              <a:ea typeface="Cambria Math" panose="02040503050406030204" pitchFamily="18" charset="0"/>
            </a:endParaRPr>
          </a:p>
        </p:txBody>
      </p:sp>
      <p:sp>
        <p:nvSpPr>
          <p:cNvPr id="22" name="Shape 19"/>
          <p:cNvSpPr/>
          <p:nvPr/>
        </p:nvSpPr>
        <p:spPr>
          <a:xfrm>
            <a:off x="6179344" y="6722507"/>
            <a:ext cx="7660005" cy="15240"/>
          </a:xfrm>
          <a:prstGeom prst="rect">
            <a:avLst/>
          </a:prstGeom>
          <a:solidFill>
            <a:srgbClr val="4950BC"/>
          </a:solidFill>
          <a:ln/>
        </p:spPr>
      </p:sp>
      <p:sp>
        <p:nvSpPr>
          <p:cNvPr id="23" name="Text 20"/>
          <p:cNvSpPr/>
          <p:nvPr/>
        </p:nvSpPr>
        <p:spPr>
          <a:xfrm>
            <a:off x="6179344" y="6819543"/>
            <a:ext cx="2086808" cy="208121"/>
          </a:xfrm>
          <a:prstGeom prst="rect">
            <a:avLst/>
          </a:prstGeom>
          <a:noFill/>
          <a:ln/>
        </p:spPr>
        <p:txBody>
          <a:bodyPr wrap="none" lIns="0" tIns="0" rIns="0" bIns="0" rtlCol="0" anchor="t"/>
          <a:lstStyle/>
          <a:p>
            <a:pPr marL="0" indent="0" algn="l">
              <a:lnSpc>
                <a:spcPts val="1600"/>
              </a:lnSpc>
              <a:buNone/>
            </a:pPr>
            <a:r>
              <a:rPr lang="en-US" sz="1300" b="1" dirty="0">
                <a:solidFill>
                  <a:srgbClr val="272525"/>
                </a:solidFill>
                <a:latin typeface="Cambria Math" panose="02040503050406030204" pitchFamily="18" charset="0"/>
                <a:ea typeface="Cambria Math" panose="02040503050406030204" pitchFamily="18" charset="0"/>
                <a:cs typeface="Inter Bold" pitchFamily="34" charset="-120"/>
              </a:rPr>
              <a:t>Real-Time Browser Plugin</a:t>
            </a:r>
            <a:endParaRPr lang="en-US" sz="1300" dirty="0">
              <a:latin typeface="Cambria Math" panose="02040503050406030204" pitchFamily="18" charset="0"/>
              <a:ea typeface="Cambria Math" panose="02040503050406030204" pitchFamily="18" charset="0"/>
            </a:endParaRPr>
          </a:p>
        </p:txBody>
      </p:sp>
      <p:sp>
        <p:nvSpPr>
          <p:cNvPr id="24" name="Text 21"/>
          <p:cNvSpPr/>
          <p:nvPr/>
        </p:nvSpPr>
        <p:spPr>
          <a:xfrm>
            <a:off x="6179344" y="7117080"/>
            <a:ext cx="7660005" cy="178118"/>
          </a:xfrm>
          <a:prstGeom prst="rect">
            <a:avLst/>
          </a:prstGeom>
          <a:noFill/>
          <a:ln/>
        </p:spPr>
        <p:txBody>
          <a:bodyPr wrap="none" lIns="0" tIns="0" rIns="0" bIns="0" rtlCol="0" anchor="t"/>
          <a:lstStyle/>
          <a:p>
            <a:pPr marL="0" indent="0" algn="l">
              <a:lnSpc>
                <a:spcPts val="1400"/>
              </a:lnSpc>
              <a:buNone/>
            </a:pPr>
            <a:r>
              <a:rPr lang="en-US" sz="1300" dirty="0">
                <a:solidFill>
                  <a:srgbClr val="272525"/>
                </a:solidFill>
                <a:latin typeface="Cambria Math" panose="02040503050406030204" pitchFamily="18" charset="0"/>
                <a:ea typeface="Cambria Math" panose="02040503050406030204" pitchFamily="18" charset="0"/>
                <a:cs typeface="Inter" pitchFamily="34" charset="-120"/>
              </a:rPr>
              <a:t>Extend Integrity Agent into a browser extension for live, passive scanning of web content as users browse.</a:t>
            </a:r>
            <a:endParaRPr lang="en-US" sz="1300" dirty="0">
              <a:latin typeface="Cambria Math" panose="02040503050406030204" pitchFamily="18" charset="0"/>
              <a:ea typeface="Cambria Math" panose="02040503050406030204" pitchFamily="18" charset="0"/>
            </a:endParaRPr>
          </a:p>
        </p:txBody>
      </p:sp>
      <p:pic>
        <p:nvPicPr>
          <p:cNvPr id="26" name="Picture 25">
            <a:extLst>
              <a:ext uri="{FF2B5EF4-FFF2-40B4-BE49-F238E27FC236}">
                <a16:creationId xmlns:a16="http://schemas.microsoft.com/office/drawing/2014/main" id="{8AD2CA66-FCDC-8ECC-B362-9C73FA95C5FB}"/>
              </a:ext>
            </a:extLst>
          </p:cNvPr>
          <p:cNvPicPr>
            <a:picLocks noChangeAspect="1"/>
          </p:cNvPicPr>
          <p:nvPr/>
        </p:nvPicPr>
        <p:blipFill>
          <a:blip r:embed="rId4"/>
          <a:stretch>
            <a:fillRect/>
          </a:stretch>
        </p:blipFill>
        <p:spPr>
          <a:xfrm>
            <a:off x="12290857" y="7697968"/>
            <a:ext cx="2339543" cy="39627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1226</Words>
  <Application>Microsoft Office PowerPoint</Application>
  <PresentationFormat>Custom</PresentationFormat>
  <Paragraphs>144</Paragraphs>
  <Slides>16</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Cambria Math</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Shalini K</dc:creator>
  <cp:lastModifiedBy>Shalini K</cp:lastModifiedBy>
  <cp:revision>26</cp:revision>
  <dcterms:created xsi:type="dcterms:W3CDTF">2026-04-04T18:47:57Z</dcterms:created>
  <dcterms:modified xsi:type="dcterms:W3CDTF">2026-04-04T19:52:11Z</dcterms:modified>
</cp:coreProperties>
</file>